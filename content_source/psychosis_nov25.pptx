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webextensions/webextension1.xml" ContentType="application/vnd.ms-office.webextension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3" r:id="rId1"/>
    <p:sldMasterId id="2147483658" r:id="rId2"/>
    <p:sldMasterId id="2147483662" r:id="rId3"/>
    <p:sldMasterId id="2147483666" r:id="rId4"/>
  </p:sldMasterIdLst>
  <p:notesMasterIdLst>
    <p:notesMasterId r:id="rId42"/>
  </p:notesMasterIdLst>
  <p:sldIdLst>
    <p:sldId id="256" r:id="rId5"/>
    <p:sldId id="528" r:id="rId6"/>
    <p:sldId id="527" r:id="rId7"/>
    <p:sldId id="529" r:id="rId8"/>
    <p:sldId id="294" r:id="rId9"/>
    <p:sldId id="530" r:id="rId10"/>
    <p:sldId id="559" r:id="rId11"/>
    <p:sldId id="532" r:id="rId12"/>
    <p:sldId id="531" r:id="rId13"/>
    <p:sldId id="533" r:id="rId14"/>
    <p:sldId id="534" r:id="rId15"/>
    <p:sldId id="560" r:id="rId16"/>
    <p:sldId id="535" r:id="rId17"/>
    <p:sldId id="536" r:id="rId18"/>
    <p:sldId id="537" r:id="rId19"/>
    <p:sldId id="538" r:id="rId20"/>
    <p:sldId id="539" r:id="rId21"/>
    <p:sldId id="540" r:id="rId22"/>
    <p:sldId id="544" r:id="rId23"/>
    <p:sldId id="561" r:id="rId24"/>
    <p:sldId id="545" r:id="rId25"/>
    <p:sldId id="546" r:id="rId26"/>
    <p:sldId id="541" r:id="rId27"/>
    <p:sldId id="543" r:id="rId28"/>
    <p:sldId id="542" r:id="rId29"/>
    <p:sldId id="562" r:id="rId30"/>
    <p:sldId id="547" r:id="rId31"/>
    <p:sldId id="548" r:id="rId32"/>
    <p:sldId id="549" r:id="rId33"/>
    <p:sldId id="550" r:id="rId34"/>
    <p:sldId id="554" r:id="rId35"/>
    <p:sldId id="563" r:id="rId36"/>
    <p:sldId id="551" r:id="rId37"/>
    <p:sldId id="552" r:id="rId38"/>
    <p:sldId id="558" r:id="rId39"/>
    <p:sldId id="292" r:id="rId40"/>
    <p:sldId id="293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4070"/>
    <a:srgbClr val="59B8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5B1FEE-4A3C-1446-8F27-331780E9A32C}" v="1" dt="2025-11-18T19:21:14.4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9193"/>
    <p:restoredTop sz="94682"/>
  </p:normalViewPr>
  <p:slideViewPr>
    <p:cSldViewPr snapToGrid="0" snapToObjects="1">
      <p:cViewPr varScale="1">
        <p:scale>
          <a:sx n="85" d="100"/>
          <a:sy n="85" d="100"/>
        </p:scale>
        <p:origin x="184" y="10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ughn, Sam" userId="46fdb77a-8567-4b44-8a2c-9fef2bc5da71" providerId="ADAL" clId="{78379669-5193-5F16-A8B8-F81DABB6008B}"/>
    <pc:docChg chg="undo custSel modSld">
      <pc:chgData name="Vaughn, Sam" userId="46fdb77a-8567-4b44-8a2c-9fef2bc5da71" providerId="ADAL" clId="{78379669-5193-5F16-A8B8-F81DABB6008B}" dt="2025-11-18T19:21:56.658" v="13" actId="18131"/>
      <pc:docMkLst>
        <pc:docMk/>
      </pc:docMkLst>
      <pc:sldChg chg="addSp delSp modSp mod">
        <pc:chgData name="Vaughn, Sam" userId="46fdb77a-8567-4b44-8a2c-9fef2bc5da71" providerId="ADAL" clId="{78379669-5193-5F16-A8B8-F81DABB6008B}" dt="2025-11-18T19:21:56.658" v="13" actId="18131"/>
        <pc:sldMkLst>
          <pc:docMk/>
          <pc:sldMk cId="1254060794" sldId="563"/>
        </pc:sldMkLst>
        <pc:picChg chg="del">
          <ac:chgData name="Vaughn, Sam" userId="46fdb77a-8567-4b44-8a2c-9fef2bc5da71" providerId="ADAL" clId="{78379669-5193-5F16-A8B8-F81DABB6008B}" dt="2025-11-18T19:21:06.627" v="0" actId="478"/>
          <ac:picMkLst>
            <pc:docMk/>
            <pc:sldMk cId="1254060794" sldId="563"/>
            <ac:picMk id="3" creationId="{66A20A77-4D20-A984-2294-E6180688BB03}"/>
          </ac:picMkLst>
        </pc:picChg>
        <pc:picChg chg="add mod modCrop">
          <ac:chgData name="Vaughn, Sam" userId="46fdb77a-8567-4b44-8a2c-9fef2bc5da71" providerId="ADAL" clId="{78379669-5193-5F16-A8B8-F81DABB6008B}" dt="2025-11-18T19:21:56.658" v="13" actId="18131"/>
          <ac:picMkLst>
            <pc:docMk/>
            <pc:sldMk cId="1254060794" sldId="563"/>
            <ac:picMk id="6" creationId="{96A5BD9E-E1FC-EE02-DCA1-E88F7F074FB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047925-ABC8-2D4D-B726-394A91CC8076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0D0956-204D-EF45-989B-10B60A1A5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54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049723-E27E-4F9B-B99F-86171F53DD88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90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049723-E27E-4F9B-B99F-86171F53DD88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74991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B33DD-D2B2-7CCA-F105-42BB648D2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0DA0FB-A56F-2D4D-F982-3DFD80F2F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03F177-14F1-3B90-4A22-F75E4CFBCA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2C356C-3850-204F-844B-CB15BB6F8E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049723-E27E-4F9B-B99F-86171F53DD88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01236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049723-E27E-4F9B-B99F-86171F53DD88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76221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2223E-9123-00F0-F68B-5E384605D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C220EB-87C7-7068-5D39-706B17A764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4D499C-7FC9-5B3A-5BF7-7AA6247D28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0CBC8D-C18B-2A14-21C9-7D3F4454CE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049723-E27E-4F9B-B99F-86171F53DD88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55124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94DB6-F542-5C82-664B-9156D6C18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0F7381-9EE2-D5A3-4969-0039115CA0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B4088B-26FA-598E-179F-F4A2D65159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66DFBD-1E6C-AE4F-FA2A-5B51F40E9A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049723-E27E-4F9B-B99F-86171F53DD88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5887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F13F0-80A1-5DE2-FB7C-47550DBA6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C0853A-1460-920D-BD55-2B668F5F25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182EDB-1054-8225-50A7-E39CB99212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9AD838-6A5D-06C4-4BA1-663CCEF90E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049723-E27E-4F9B-B99F-86171F53DD88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67335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E6C8E-9E13-2145-02AF-C6A9D3FE7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85B7CF-0F85-31D4-FC4E-9267432160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B477C7-7D97-94C8-729A-7C04012803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BE94AD-470A-D176-0512-0459B16739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049723-E27E-4F9B-B99F-86171F53DD88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65437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B7A62-4DDD-6D3E-778B-C7D1FD51C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972B37-ED46-CC3B-5AB0-5E98422290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7CB320-7E95-018D-C0A2-C04A9CB78C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86B597-A757-4592-39A6-A23A981EEE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049723-E27E-4F9B-B99F-86171F53DD88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66675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A4F4D-7937-2A57-1B44-B0B41CF40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6A70D2-058E-33F7-C08E-DCC0BEAE22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60BAE0-A888-687D-FD38-F1054423CC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C29195-932E-0259-FF7B-CCFA9DC11B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049723-E27E-4F9B-B99F-86171F53DD88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62247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01FEF-3EF6-ED62-E663-6C1677ABC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379EEC-1CC4-1D82-EBCF-2C9063E7BB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955903-ACF7-7AC8-605F-AD20A994C8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F9E9CA-84F5-E614-9100-24F4D8E36D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049723-E27E-4F9B-B99F-86171F53DD88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2492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CA862-F181-B010-586A-92B2D8532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326314-9C89-01BD-B455-6B0810577B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9D61A5-8298-3AB4-0D94-827DC2A1FC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936D0E-DA8B-6277-7285-76FA28DBF1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049723-E27E-4F9B-B99F-86171F53DD88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9857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C083E-6B43-B845-3FF5-AC5679B8A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7FAD08-BC28-7169-242D-44E757D4D9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BDA8B9-A17A-FAB2-B546-880AE7C5FC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C8703D-16CC-A46E-6DA7-BBE631555C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049723-E27E-4F9B-B99F-86171F53DD88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78211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D3AAA-5B61-845C-D5D3-41CD0FF30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A58D32-EBD7-280B-D262-37801EC1A6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293569-583E-AD16-06D4-7A6487B8AB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FBEF0E-B8FA-B3AB-07CB-105EE8F3B1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049723-E27E-4F9B-B99F-86171F53DD88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12930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1B52A-5C4A-EFC3-1A42-C5C0B722B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E89EEE-59EF-8444-9A29-3206513884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7DDF98-C59E-43A6-3A63-9A13C4DBA9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49ABD2-3978-F566-715D-8CB735E8E9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049723-E27E-4F9B-B99F-86171F53DD88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4142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64F76-8876-210B-A81F-29E651109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508438-B118-E73C-7D8C-29144F3492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C64064-05C8-5FD5-E0A8-660010BB1E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4D7122-36F1-ED45-66EC-990D211112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049723-E27E-4F9B-B99F-86171F53DD88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55373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92D01-6655-1114-D4C4-E70EE74DB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498EEC-27DD-8D77-2920-6B3FE65A6D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172D37-F149-0BA3-ADC5-4FBD26F1A5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69F36-385F-666E-BD59-461EA19E7F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049723-E27E-4F9B-B99F-86171F53DD88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94802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4ABC9-9FF6-4E7D-68BA-8F8929BEB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0A2EB8-4941-62DC-7585-017E503379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217637-7B3B-B1C4-092D-E2D6D37897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203B32-35B1-F61A-4B90-A65D50B09E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049723-E27E-4F9B-B99F-86171F53DD88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33120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7D943-A57D-D251-E676-1A07D4DEE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AB262B-2DA0-7661-0145-C5B43296FC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4AAFA0-C23B-D984-CF5D-9C2E5CFADE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E6B5B9-DDD8-A01A-1055-84550733E0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049723-E27E-4F9B-B99F-86171F53DD88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78945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75691-ADA2-0365-BF73-047C9C0F9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6F50F7-B397-1F18-E70E-35FAF0906E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DB0DA5-A50D-D9C2-6DED-3CCFE8B4F7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5C0C40-3003-05DD-55E0-6AC5DAB78F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049723-E27E-4F9B-B99F-86171F53DD88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45553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B9942-82DF-C428-0A0E-9737454F2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989D44-7650-78DA-C407-CD6DE3AD98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826113-552D-62BB-CB0E-A39763AA2E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0EEBF7-D4B7-AD8D-5167-29B5803055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049723-E27E-4F9B-B99F-86171F53DD88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11928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E2F6A-9F62-73EF-8E04-5A5E0AB2C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EB088F-EDD4-61AC-697C-A88273BC4F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2C5039-B26A-DCB9-D994-C0E3BF7C1D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2131E6-692A-AC8E-BEB7-21348B8DBE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049723-E27E-4F9B-B99F-86171F53DD88}" type="slidenum">
              <a:rPr lang="en-US" altLang="en-US" smtClean="0"/>
              <a:pPr>
                <a:defRPr/>
              </a:pPr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17945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16537-98A2-BEDA-D97E-13D2128F2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FF864F-BCA2-2B63-FDED-8A25D7A6E0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8995CF-7ACE-EE37-4535-6F63ED1D81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6DC6CA-0931-50E1-DD06-4BCE1DD86F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049723-E27E-4F9B-B99F-86171F53DD88}" type="slidenum">
              <a:rPr lang="en-US" altLang="en-US" smtClean="0"/>
              <a:pPr>
                <a:defRPr/>
              </a:pPr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45984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FCD1E-61A0-03B2-8B14-684146930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06A4AA-197A-99B9-0624-6D4C63ED38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31ECA3-4D84-1352-2603-10754398D8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34030D-0480-303F-00DC-9FD942AD1E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049723-E27E-4F9B-B99F-86171F53DD88}" type="slidenum">
              <a:rPr lang="en-US" altLang="en-US" smtClean="0"/>
              <a:pPr>
                <a:defRPr/>
              </a:pPr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54403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6D145-7EB1-55CD-81A3-6D8C2D3E7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C6D9C3-95FF-60BD-9185-08BE397136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D8B29A-FACE-3157-E880-7A478FEB9A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A1F697-B452-52F1-EFFD-74EA3AA98A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049723-E27E-4F9B-B99F-86171F53DD88}" type="slidenum">
              <a:rPr lang="en-US" altLang="en-US" smtClean="0"/>
              <a:pPr>
                <a:defRPr/>
              </a:pPr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694080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5DEBB-3C88-2DFA-C56E-980164638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718685-8427-A2E1-2E0D-8074E243F7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D61B3C-EC4E-F991-772C-526FA6AC2A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FB9D3B-D34C-405C-ED90-8B984A6305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049723-E27E-4F9B-B99F-86171F53DD88}" type="slidenum">
              <a:rPr lang="en-US" altLang="en-US" smtClean="0"/>
              <a:pPr>
                <a:defRPr/>
              </a:pPr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1167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130425"/>
            <a:ext cx="10363200" cy="1470025"/>
          </a:xfrm>
        </p:spPr>
        <p:txBody>
          <a:bodyPr>
            <a:normAutofit/>
          </a:bodyPr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3886200"/>
            <a:ext cx="8534400" cy="127892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DB5D8-907B-5946-AAB2-6BF76B9AA4A9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757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DB5D8-907B-5946-AAB2-6BF76B9AA4A9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296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11460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11460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DB5D8-907B-5946-AAB2-6BF76B9AA4A9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282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130425"/>
            <a:ext cx="10363200" cy="1470025"/>
          </a:xfrm>
        </p:spPr>
        <p:txBody>
          <a:bodyPr>
            <a:normAutofit/>
          </a:bodyPr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3886200"/>
            <a:ext cx="8534400" cy="1288397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DB5D8-907B-5946-AAB2-6BF76B9AA4A9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12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DB5D8-907B-5946-AAB2-6BF76B9AA4A9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356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410200" cy="41240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1"/>
            <a:ext cx="5410200" cy="41240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DB5D8-907B-5946-AAB2-6BF76B9AA4A9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777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130425"/>
            <a:ext cx="10363200" cy="1470025"/>
          </a:xfrm>
        </p:spPr>
        <p:txBody>
          <a:bodyPr>
            <a:normAutofit/>
          </a:bodyPr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3886200"/>
            <a:ext cx="8534400" cy="1297875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DB5D8-907B-5946-AAB2-6BF76B9AA4A9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12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DB5D8-907B-5946-AAB2-6BF76B9AA4A9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356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DB5D8-907B-5946-AAB2-6BF76B9AA4A9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777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130425"/>
            <a:ext cx="10363200" cy="1470025"/>
          </a:xfrm>
        </p:spPr>
        <p:txBody>
          <a:bodyPr>
            <a:normAutofit/>
          </a:bodyPr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3886200"/>
            <a:ext cx="8534400" cy="1288397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DB5D8-907B-5946-AAB2-6BF76B9AA4A9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12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DB5D8-907B-5946-AAB2-6BF76B9AA4A9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3567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DB5D8-907B-5946-AAB2-6BF76B9AA4A9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7779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34349"/>
            <a:ext cx="10972800" cy="838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2" y="1947865"/>
            <a:ext cx="6587471" cy="4420281"/>
          </a:xfrm>
        </p:spPr>
        <p:txBody>
          <a:bodyPr/>
          <a:lstStyle>
            <a:lvl1pPr>
              <a:spcBef>
                <a:spcPts val="533"/>
              </a:spcBef>
              <a:spcAft>
                <a:spcPts val="0"/>
              </a:spcAft>
              <a:defRPr sz="2667" baseline="0"/>
            </a:lvl1pPr>
            <a:lvl2pPr>
              <a:spcBef>
                <a:spcPts val="533"/>
              </a:spcBef>
              <a:spcAft>
                <a:spcPts val="0"/>
              </a:spcAft>
              <a:defRPr sz="2400" baseline="0"/>
            </a:lvl2pPr>
            <a:lvl3pPr>
              <a:spcBef>
                <a:spcPts val="533"/>
              </a:spcBef>
              <a:spcAft>
                <a:spcPts val="0"/>
              </a:spcAft>
              <a:defRPr sz="2400" baseline="0"/>
            </a:lvl3pPr>
            <a:lvl4pPr>
              <a:spcBef>
                <a:spcPts val="533"/>
              </a:spcBef>
              <a:spcAft>
                <a:spcPts val="533"/>
              </a:spcAft>
              <a:defRPr sz="2400" baseline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3210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.png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0956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4DB5D8-907B-5946-AAB2-6BF76B9AA4A9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630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7" r:id="rId3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1335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4DB5D8-907B-5946-AAB2-6BF76B9AA4A9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920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8959039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4DB5D8-907B-5946-AAB2-6BF76B9AA4A9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920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6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1" y="274638"/>
            <a:ext cx="8946708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70000"/>
              </a:lnSpc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4DB5D8-907B-5946-AAB2-6BF76B9AA4A9}" type="datetimeFigureOut">
              <a:rPr lang="en-US" smtClean="0"/>
              <a:pPr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lnSpc>
                <a:spcPct val="70000"/>
              </a:lnSpc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920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1" r:id="rId4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20337"/>
            <a:ext cx="10363200" cy="3380113"/>
          </a:xfrm>
        </p:spPr>
        <p:txBody>
          <a:bodyPr>
            <a:normAutofit fontScale="90000"/>
          </a:bodyPr>
          <a:lstStyle/>
          <a:p>
            <a:r>
              <a:rPr lang="en-US" dirty="0"/>
              <a:t>Navigating Psychotic Symptoms: Exploring a Broad Medical and Psychiatric Differential and Treatment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Sam Vaughn, MD PhD</a:t>
            </a:r>
          </a:p>
          <a:p>
            <a:r>
              <a:rPr lang="en-US" dirty="0"/>
              <a:t>Assistant Professor, Division of Child and Adolescent Psychiatry</a:t>
            </a:r>
          </a:p>
          <a:p>
            <a:r>
              <a:rPr lang="en-US" dirty="0"/>
              <a:t>Cincinnati Children’s Hospital and Medical Center</a:t>
            </a:r>
          </a:p>
          <a:p>
            <a:r>
              <a:rPr lang="en-US" dirty="0" err="1"/>
              <a:t>samuel.vaughn@cchmc.org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9733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9F5E2-624B-23CC-A599-9C81EAF21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Disclosure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42846-A9C8-A68D-7E75-09310FF84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563" y="2083100"/>
            <a:ext cx="10972800" cy="1180651"/>
          </a:xfrm>
        </p:spPr>
        <p:txBody>
          <a:bodyPr/>
          <a:lstStyle/>
          <a:p>
            <a:pPr algn="l"/>
            <a:r>
              <a:rPr lang="en-US" sz="2133" b="1" dirty="0">
                <a:latin typeface="Calibri" panose="020F0502020204030204" pitchFamily="34" charset="0"/>
              </a:rPr>
              <a:t>Presenter Disclosure Statement: </a:t>
            </a:r>
            <a:r>
              <a:rPr lang="en-US" sz="2133" dirty="0">
                <a:latin typeface="Calibri" panose="020F0502020204030204" pitchFamily="34" charset="0"/>
              </a:rPr>
              <a:t>Dr. Vaughn does not have any financial relationships to disclose.</a:t>
            </a:r>
            <a:br>
              <a:rPr lang="en-US" sz="2133" dirty="0">
                <a:latin typeface="Aptos" panose="020B0004020202020204" pitchFamily="34" charset="0"/>
              </a:rPr>
            </a:br>
            <a:endParaRPr lang="en-US" sz="2133" dirty="0">
              <a:latin typeface="Segoe UI" panose="020B0502040204020203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698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36AA3-4BC5-31CE-F132-E9BC330D5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C319D-5113-E5D6-0822-8BC68ECC2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and Outline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1EE101-E2A7-FAFB-C2A5-2637725B95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9624753" cy="4351339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Define psychosis </a:t>
            </a:r>
            <a:r>
              <a:rPr lang="en-US" dirty="0"/>
              <a:t>and list common primary psychotic disorders in youth (up to age 18)</a:t>
            </a:r>
          </a:p>
          <a:p>
            <a:r>
              <a:rPr lang="en-US" b="1" dirty="0"/>
              <a:t>Differentiate psychotic symptoms </a:t>
            </a:r>
            <a:r>
              <a:rPr lang="en-US" dirty="0"/>
              <a:t>from other causes (mood disorders, trauma, substance use, medical illness)</a:t>
            </a:r>
          </a:p>
          <a:p>
            <a:r>
              <a:rPr lang="en-US" b="1" dirty="0"/>
              <a:t>Outline initial work-up </a:t>
            </a:r>
            <a:r>
              <a:rPr lang="en-US" dirty="0"/>
              <a:t>for new-onset psychosis in outpatient settings (labs, and imaging when appropriate)</a:t>
            </a:r>
          </a:p>
          <a:p>
            <a:r>
              <a:rPr lang="en-US" b="1" dirty="0"/>
              <a:t>Recognize red flags </a:t>
            </a:r>
            <a:r>
              <a:rPr lang="en-US" dirty="0"/>
              <a:t>that require urgent referral or hospitalization</a:t>
            </a:r>
          </a:p>
          <a:p>
            <a:r>
              <a:rPr lang="en-US" b="1" dirty="0"/>
              <a:t>Referrals</a:t>
            </a:r>
            <a:r>
              <a:rPr lang="en-US" dirty="0"/>
              <a:t>– when and how to refer to psychiatry</a:t>
            </a:r>
          </a:p>
          <a:p>
            <a:r>
              <a:rPr lang="en-US" b="1" dirty="0"/>
              <a:t>Discuss initial treatment </a:t>
            </a:r>
            <a:r>
              <a:rPr lang="en-US" dirty="0"/>
              <a:t>steps if a schizophrenia-spectrum illness is suspected, including safe antipsychotic initiation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020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A9E3F-8729-9B15-8DAC-F89EB5A16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am 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D4E6B-3EDE-912F-8505-10CB517AC9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4351339"/>
          </a:xfrm>
        </p:spPr>
        <p:txBody>
          <a:bodyPr/>
          <a:lstStyle/>
          <a:p>
            <a:r>
              <a:rPr lang="en-US" dirty="0"/>
              <a:t>In other words, why should you listen to me?</a:t>
            </a:r>
          </a:p>
          <a:p>
            <a:pPr lvl="1"/>
            <a:r>
              <a:rPr lang="en-US" dirty="0"/>
              <a:t>My day job is as a consult and ED psychiatrist at Cincinnati Children’s Hospital</a:t>
            </a:r>
          </a:p>
          <a:p>
            <a:pPr lvl="1"/>
            <a:r>
              <a:rPr lang="en-US" dirty="0"/>
              <a:t>I still work monthly at our adult hospital- both in the psychiatric ED and inpatient units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 treat a lot of patients presenting for the first time with psychosis</a:t>
            </a:r>
          </a:p>
        </p:txBody>
      </p:sp>
    </p:spTree>
    <p:extLst>
      <p:ext uri="{BB962C8B-B14F-4D97-AF65-F5344CB8AC3E}">
        <p14:creationId xmlns:p14="http://schemas.microsoft.com/office/powerpoint/2010/main" val="3395348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17498" r="-3657" b="11957"/>
          <a:stretch/>
        </p:blipFill>
        <p:spPr>
          <a:xfrm>
            <a:off x="0" y="-27296"/>
            <a:ext cx="12637827" cy="688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463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BA397-25E0-B8E6-C51A-239D4B129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Scenario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5587B-8859-17A8-F425-DA5488572F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You’re in clinic and the nurse mentions that your next patient, a 17yo male you’ve been seeing for years and know well, is here with his parents after reporting that he’s recently been hearing voices.</a:t>
            </a:r>
          </a:p>
          <a:p>
            <a:endParaRPr lang="en-US" dirty="0"/>
          </a:p>
          <a:p>
            <a:r>
              <a:rPr lang="en-US" dirty="0"/>
              <a:t>What do you do?</a:t>
            </a:r>
          </a:p>
        </p:txBody>
      </p:sp>
    </p:spTree>
    <p:extLst>
      <p:ext uri="{BB962C8B-B14F-4D97-AF65-F5344CB8AC3E}">
        <p14:creationId xmlns:p14="http://schemas.microsoft.com/office/powerpoint/2010/main" val="20698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77213-8BEE-CF1F-FA53-B649FF605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DB3EB-C28E-AC89-2EED-E2292AD91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Psychosis- QUIZ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EC0B5-C748-E578-AE2B-13C0AED1E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267" dirty="0"/>
              <a:t>How do you define psychosis?</a:t>
            </a:r>
          </a:p>
          <a:p>
            <a:endParaRPr lang="en-US" sz="4267" dirty="0"/>
          </a:p>
        </p:txBody>
      </p:sp>
    </p:spTree>
    <p:extLst>
      <p:ext uri="{BB962C8B-B14F-4D97-AF65-F5344CB8AC3E}">
        <p14:creationId xmlns:p14="http://schemas.microsoft.com/office/powerpoint/2010/main" val="3601892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F0FBE-6E17-49E3-4165-C21AA9C37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Add-in 3" title="Forms">
                <a:extLst>
                  <a:ext uri="{FF2B5EF4-FFF2-40B4-BE49-F238E27FC236}">
                    <a16:creationId xmlns:a16="http://schemas.microsoft.com/office/drawing/2014/main" id="{F003E15D-8F0F-F6F6-04FE-E971B7CE000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51333525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4" name="Add-in 3" title="Forms">
                <a:extLst>
                  <a:ext uri="{FF2B5EF4-FFF2-40B4-BE49-F238E27FC236}">
                    <a16:creationId xmlns:a16="http://schemas.microsoft.com/office/drawing/2014/main" id="{F003E15D-8F0F-F6F6-04FE-E971B7CE000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>
                <a:clrChange>
                  <a:clrFrom>
                    <a:prstClr val="black"/>
                  </a:clrFrom>
                  <a:clrTo>
                    <a:prstClr val="black">
                      <a:alpha val="0"/>
                    </a:prstClr>
                  </a:clrTo>
                </a:clrChange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90912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DAA5B-350F-95B7-D5B5-28DA1F10F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Psychosis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424A9-2565-66CF-FB9F-91CCCB6AD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267" dirty="0"/>
              <a:t>Common ways psychosis is defined?</a:t>
            </a:r>
          </a:p>
          <a:p>
            <a:pPr lvl="1"/>
            <a:r>
              <a:rPr lang="en-US" sz="3200" dirty="0"/>
              <a:t>Hearing things that aren’t there</a:t>
            </a:r>
          </a:p>
          <a:p>
            <a:pPr lvl="1"/>
            <a:r>
              <a:rPr lang="en-US" sz="3200" dirty="0"/>
              <a:t>Seeing things that aren’t there</a:t>
            </a:r>
          </a:p>
        </p:txBody>
      </p:sp>
    </p:spTree>
    <p:extLst>
      <p:ext uri="{BB962C8B-B14F-4D97-AF65-F5344CB8AC3E}">
        <p14:creationId xmlns:p14="http://schemas.microsoft.com/office/powerpoint/2010/main" val="3530981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83072-CBDB-343E-3B56-9A8002994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FC0CB-8FCD-18F2-E96F-1EB74ABE1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Psychosis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5BB07-8CC0-18AB-1A72-A0B2D8D6B0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5067" dirty="0"/>
              <a:t>How do I define psychosis?</a:t>
            </a:r>
          </a:p>
          <a:p>
            <a:pPr lvl="1"/>
            <a:r>
              <a:rPr lang="en-US" sz="3467" dirty="0"/>
              <a:t>Hallucinations, paranoid or bizarre delusions, distorted perceptions </a:t>
            </a:r>
            <a:r>
              <a:rPr lang="en-US" sz="3467" b="1" dirty="0">
                <a:solidFill>
                  <a:srgbClr val="D54070"/>
                </a:solidFill>
              </a:rPr>
              <a:t>without insight</a:t>
            </a:r>
          </a:p>
          <a:p>
            <a:pPr lvl="1"/>
            <a:r>
              <a:rPr lang="en-US" sz="3467" dirty="0"/>
              <a:t>Disorganized thoughts, behaviors or speech</a:t>
            </a:r>
          </a:p>
          <a:p>
            <a:pPr lvl="1"/>
            <a:r>
              <a:rPr lang="en-US" sz="3467" dirty="0"/>
              <a:t>Unclear thought processes, bizarre behavior or language, responding to internal stimuli</a:t>
            </a:r>
          </a:p>
          <a:p>
            <a:pPr lvl="1"/>
            <a:r>
              <a:rPr lang="en-US" sz="3467" dirty="0"/>
              <a:t>Hostility, acute behavioral agitation (these may be signs of psychosis but can be present in other conditions)</a:t>
            </a:r>
          </a:p>
          <a:p>
            <a:endParaRPr lang="en-US" sz="4267" dirty="0"/>
          </a:p>
        </p:txBody>
      </p:sp>
    </p:spTree>
    <p:extLst>
      <p:ext uri="{BB962C8B-B14F-4D97-AF65-F5344CB8AC3E}">
        <p14:creationId xmlns:p14="http://schemas.microsoft.com/office/powerpoint/2010/main" val="3065461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B5E07-EC64-639B-3A4B-5C456CD71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DB8ED-65E1-FEDC-01DB-A1BA7F6E9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Psychosis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70D51-AD9B-354C-B37E-39B83CE57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Hallucinations:</a:t>
            </a:r>
          </a:p>
          <a:p>
            <a:pPr lvl="1"/>
            <a:r>
              <a:rPr lang="en-US" dirty="0"/>
              <a:t>Perceptions occurring in the absence of corresponding external or somatic stimuli (AVH- auditory verbal hallucinations)</a:t>
            </a:r>
          </a:p>
          <a:p>
            <a:r>
              <a:rPr lang="en-US" dirty="0"/>
              <a:t>Delusions:</a:t>
            </a:r>
          </a:p>
          <a:p>
            <a:pPr lvl="1"/>
            <a:r>
              <a:rPr lang="en-US" dirty="0"/>
              <a:t>Fixed false beliefs (My parents have been replaced; I am dead)</a:t>
            </a:r>
          </a:p>
          <a:p>
            <a:r>
              <a:rPr lang="en-US" dirty="0"/>
              <a:t>Formal thought disorder:</a:t>
            </a:r>
            <a:endParaRPr lang="en-US" b="1" dirty="0">
              <a:solidFill>
                <a:srgbClr val="FF0000"/>
              </a:solidFill>
            </a:endParaRPr>
          </a:p>
          <a:p>
            <a:pPr lvl="1"/>
            <a:r>
              <a:rPr lang="en-US" dirty="0"/>
              <a:t>disorganized thinking, including illogicality, tangentiality, perseveration, neologism, thought blocking, derailment, or some combination of these disturbances of thought</a:t>
            </a:r>
          </a:p>
          <a:p>
            <a:endParaRPr lang="en-US" sz="4267" dirty="0"/>
          </a:p>
        </p:txBody>
      </p:sp>
    </p:spTree>
    <p:extLst>
      <p:ext uri="{BB962C8B-B14F-4D97-AF65-F5344CB8AC3E}">
        <p14:creationId xmlns:p14="http://schemas.microsoft.com/office/powerpoint/2010/main" val="22988931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3048F-9414-DE3D-27BE-158D00A03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unset over a beach&#10;&#10;AI-generated content may be incorrect.">
            <a:extLst>
              <a:ext uri="{FF2B5EF4-FFF2-40B4-BE49-F238E27FC236}">
                <a16:creationId xmlns:a16="http://schemas.microsoft.com/office/drawing/2014/main" id="{02ED6037-2724-ABD3-D9C7-80408B4831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850" b="2283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310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3F7A3-9B9C-55D0-3D61-0D72F7D39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0B3A8-610A-D848-4E38-E7A9D79E2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Psychotic Illnesses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33B44-725F-AC24-FF60-2D044DC2C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Primary Psychotic Disorder:</a:t>
            </a:r>
          </a:p>
          <a:p>
            <a:pPr lvl="1"/>
            <a:r>
              <a:rPr lang="en-US" dirty="0"/>
              <a:t>The symptom of psychosis is directly linked to a psychiatric illness, such as schizophrenia</a:t>
            </a:r>
          </a:p>
          <a:p>
            <a:pPr lvl="1"/>
            <a:endParaRPr lang="en-US" dirty="0"/>
          </a:p>
          <a:p>
            <a:r>
              <a:rPr lang="en-US" dirty="0"/>
              <a:t>Secondary Psychotic Disorder:</a:t>
            </a:r>
          </a:p>
          <a:p>
            <a:pPr lvl="1"/>
            <a:r>
              <a:rPr lang="en-US" dirty="0"/>
              <a:t>The symptom of psychosis is due to an underlying organic cause, such as delirium, intoxication, encephalopathy, or another medical illness</a:t>
            </a:r>
          </a:p>
          <a:p>
            <a:endParaRPr lang="en-US" sz="4267" dirty="0"/>
          </a:p>
        </p:txBody>
      </p:sp>
    </p:spTree>
    <p:extLst>
      <p:ext uri="{BB962C8B-B14F-4D97-AF65-F5344CB8AC3E}">
        <p14:creationId xmlns:p14="http://schemas.microsoft.com/office/powerpoint/2010/main" val="731268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3B44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3B44A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8CDB3-225B-F892-56CC-15A911C5D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2AF48-DF3D-5100-3D1D-3575A2B33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Primary Psychotic Disorders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FFB0B-D5C6-EB76-2AAF-34E3D1B3C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Schizophrenia</a:t>
            </a:r>
          </a:p>
          <a:p>
            <a:r>
              <a:rPr lang="en-US" dirty="0"/>
              <a:t>Schizoaffective Disorder</a:t>
            </a:r>
          </a:p>
          <a:p>
            <a:r>
              <a:rPr lang="en-US" dirty="0"/>
              <a:t>Bipolar Disorder with Psychotic Features</a:t>
            </a:r>
          </a:p>
          <a:p>
            <a:r>
              <a:rPr lang="en-US" dirty="0"/>
              <a:t>Major Depressive Disorder with Psychotic Features</a:t>
            </a:r>
          </a:p>
          <a:p>
            <a:endParaRPr lang="en-US" dirty="0"/>
          </a:p>
          <a:p>
            <a:r>
              <a:rPr lang="en-US" dirty="0"/>
              <a:t>Depending on timing can also include:</a:t>
            </a:r>
          </a:p>
          <a:p>
            <a:pPr lvl="2"/>
            <a:r>
              <a:rPr lang="en-US" dirty="0"/>
              <a:t>Brief psychotic Disorder (less than one month)</a:t>
            </a:r>
          </a:p>
          <a:p>
            <a:pPr lvl="2"/>
            <a:r>
              <a:rPr lang="en-US" dirty="0"/>
              <a:t>Schizophreniform Disorder (&gt; 1 month but &lt; 6 months)</a:t>
            </a:r>
          </a:p>
        </p:txBody>
      </p:sp>
    </p:spTree>
    <p:extLst>
      <p:ext uri="{BB962C8B-B14F-4D97-AF65-F5344CB8AC3E}">
        <p14:creationId xmlns:p14="http://schemas.microsoft.com/office/powerpoint/2010/main" val="36307936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871CD-E495-24B4-B904-1B92BF5D7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26A2E-5B07-0441-45AF-38D371956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Primary Psychotic Disorders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AD9FC-72BA-81E7-CDB5-CF3DA2808F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Schizophrenia</a:t>
            </a:r>
          </a:p>
          <a:p>
            <a:pPr lvl="1"/>
            <a:r>
              <a:rPr lang="en-US" dirty="0"/>
              <a:t>Requires both positive and negative symptoms</a:t>
            </a:r>
          </a:p>
          <a:p>
            <a:pPr lvl="2"/>
            <a:r>
              <a:rPr lang="en-US" dirty="0"/>
              <a:t>Positive (psychosis):</a:t>
            </a:r>
          </a:p>
          <a:p>
            <a:pPr lvl="3"/>
            <a:r>
              <a:rPr lang="en-US" dirty="0"/>
              <a:t>Hallucinations</a:t>
            </a:r>
          </a:p>
          <a:p>
            <a:pPr lvl="3"/>
            <a:r>
              <a:rPr lang="en-US" dirty="0"/>
              <a:t>Delusions</a:t>
            </a:r>
          </a:p>
          <a:p>
            <a:pPr lvl="3"/>
            <a:r>
              <a:rPr lang="en-US" dirty="0"/>
              <a:t>Disorganized thoughts (formal thought disorder)</a:t>
            </a:r>
          </a:p>
          <a:p>
            <a:pPr lvl="2"/>
            <a:r>
              <a:rPr lang="en-US" dirty="0"/>
              <a:t>Negative:</a:t>
            </a:r>
          </a:p>
          <a:p>
            <a:pPr lvl="3"/>
            <a:r>
              <a:rPr lang="en-US" dirty="0"/>
              <a:t>Blunted </a:t>
            </a:r>
            <a:r>
              <a:rPr lang="en-US" b="1" dirty="0">
                <a:solidFill>
                  <a:srgbClr val="D54070"/>
                </a:solidFill>
              </a:rPr>
              <a:t>a</a:t>
            </a:r>
            <a:r>
              <a:rPr lang="en-US" dirty="0"/>
              <a:t>ffect- diminished expression (not depressed)</a:t>
            </a:r>
          </a:p>
          <a:p>
            <a:pPr lvl="3"/>
            <a:r>
              <a:rPr lang="en-US" b="1" dirty="0">
                <a:solidFill>
                  <a:srgbClr val="D54070"/>
                </a:solidFill>
              </a:rPr>
              <a:t>A</a:t>
            </a:r>
            <a:r>
              <a:rPr lang="en-US" dirty="0"/>
              <a:t>logia- poverty of speech</a:t>
            </a:r>
          </a:p>
          <a:p>
            <a:pPr lvl="3"/>
            <a:r>
              <a:rPr lang="en-US" b="1" dirty="0">
                <a:solidFill>
                  <a:srgbClr val="D54070"/>
                </a:solidFill>
              </a:rPr>
              <a:t>A</a:t>
            </a:r>
            <a:r>
              <a:rPr lang="en-US" dirty="0"/>
              <a:t>nhedonia- inability to feel pleasure (not dysthymia or depression)</a:t>
            </a:r>
          </a:p>
          <a:p>
            <a:pPr lvl="3"/>
            <a:r>
              <a:rPr lang="en-US" b="1" dirty="0">
                <a:solidFill>
                  <a:srgbClr val="D54070"/>
                </a:solidFill>
              </a:rPr>
              <a:t>A</a:t>
            </a:r>
            <a:r>
              <a:rPr lang="en-US" dirty="0"/>
              <a:t>volition- lack of motivation/apathy</a:t>
            </a:r>
          </a:p>
          <a:p>
            <a:pPr lvl="3"/>
            <a:r>
              <a:rPr lang="en-US" b="1" dirty="0">
                <a:solidFill>
                  <a:srgbClr val="D54070"/>
                </a:solidFill>
              </a:rPr>
              <a:t>A</a:t>
            </a:r>
            <a:r>
              <a:rPr lang="en-US" dirty="0"/>
              <a:t>sociality- lack of desire for relationships</a:t>
            </a:r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480818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FE065-F3DD-8A95-93E9-76C866FDB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C56E2-E33B-4EC2-CACA-00CAB6BB3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Primary Psychotic Disorders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602FD-00C0-1647-2B06-4665B5989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Schizoaffective Disorder</a:t>
            </a:r>
          </a:p>
          <a:p>
            <a:pPr lvl="1"/>
            <a:r>
              <a:rPr lang="en-US" dirty="0"/>
              <a:t>Mood (either mania or depression)</a:t>
            </a:r>
          </a:p>
          <a:p>
            <a:pPr lvl="1"/>
            <a:r>
              <a:rPr lang="en-US" dirty="0"/>
              <a:t>Psychosis (as in schizophrenia)</a:t>
            </a:r>
          </a:p>
          <a:p>
            <a:pPr lvl="1"/>
            <a:r>
              <a:rPr lang="en-US" dirty="0"/>
              <a:t>At least two weeks of psychosis with no mood symptoms</a:t>
            </a:r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782567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08612-B3B7-A093-4113-A57A2C1AE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D47A0-1472-012A-C16E-421843AA5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Primary Psychotic Disorders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AA00F-31BE-D7C4-9C7B-E50350AD9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Bipolar Disorder with Psychotic Features or MDD</a:t>
            </a:r>
          </a:p>
          <a:p>
            <a:pPr lvl="1"/>
            <a:r>
              <a:rPr lang="en-US" dirty="0"/>
              <a:t>Psychotic symptoms occur in concurrent episode of severe mania or depression</a:t>
            </a:r>
          </a:p>
          <a:p>
            <a:pPr lvl="1"/>
            <a:r>
              <a:rPr lang="en-US" dirty="0"/>
              <a:t>Psychosis without mania or depression is schizophrenia or schizoaffective disorder</a:t>
            </a:r>
          </a:p>
          <a:p>
            <a:pPr lvl="1"/>
            <a:r>
              <a:rPr lang="en-US" dirty="0"/>
              <a:t>Psychotic symptoms improve as manic or depressive symptoms improve (often before)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522363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DE406-3EE5-C4DA-33A9-DEB73F6E8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9D548-494F-43A0-05E9-1D69C7C3F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Primary Psychotic Disorders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F9695-512C-ACB0-9023-B5EAB1003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Schizophrenia:</a:t>
            </a:r>
          </a:p>
          <a:p>
            <a:pPr lvl="1"/>
            <a:r>
              <a:rPr lang="en-US" dirty="0"/>
              <a:t>Prevalence in adults: 0.25-0.64%</a:t>
            </a:r>
          </a:p>
          <a:p>
            <a:pPr lvl="1"/>
            <a:r>
              <a:rPr lang="en-US" dirty="0"/>
              <a:t>Prevalence in adolescents (13-18): 0.23% (NIMH)</a:t>
            </a:r>
          </a:p>
          <a:p>
            <a:pPr lvl="1"/>
            <a:r>
              <a:rPr lang="en-US" dirty="0"/>
              <a:t>Prevalence in children under 13: 0.0025%</a:t>
            </a:r>
          </a:p>
          <a:p>
            <a:pPr lvl="1"/>
            <a:endParaRPr lang="en-US" dirty="0"/>
          </a:p>
          <a:p>
            <a:r>
              <a:rPr lang="en-US" dirty="0"/>
              <a:t>Bipolar disorder:</a:t>
            </a:r>
          </a:p>
          <a:p>
            <a:pPr lvl="1"/>
            <a:r>
              <a:rPr lang="en-US" dirty="0"/>
              <a:t>Prevalence in adults: 2.8%</a:t>
            </a:r>
          </a:p>
          <a:p>
            <a:pPr lvl="1"/>
            <a:r>
              <a:rPr lang="en-US" dirty="0"/>
              <a:t>Prevalence in adolescents: 2.6% (NIMH)</a:t>
            </a:r>
          </a:p>
          <a:p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2416F1-309A-8D30-48DB-EF5A466AEE9D}"/>
              </a:ext>
            </a:extLst>
          </p:cNvPr>
          <p:cNvSpPr txBox="1"/>
          <p:nvPr/>
        </p:nvSpPr>
        <p:spPr>
          <a:xfrm>
            <a:off x="4049863" y="5918909"/>
            <a:ext cx="7845288" cy="707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3" dirty="0">
                <a:solidFill>
                  <a:srgbClr val="1B1B1B"/>
                </a:solidFill>
              </a:rPr>
              <a:t>Gochman P, Miller R, Rapoport JL. Childhood-onset schizophrenia: the challenge of diagnosis. Curr Psychiatry Rep. 2011 Oct;13(5):321-2. </a:t>
            </a:r>
            <a:r>
              <a:rPr lang="en-US" sz="1333" dirty="0" err="1">
                <a:solidFill>
                  <a:srgbClr val="1B1B1B"/>
                </a:solidFill>
              </a:rPr>
              <a:t>doi</a:t>
            </a:r>
            <a:r>
              <a:rPr lang="en-US" sz="1333" dirty="0">
                <a:solidFill>
                  <a:srgbClr val="1B1B1B"/>
                </a:solidFill>
              </a:rPr>
              <a:t>: 10.1007/s11920-011-0212-4. PMID: 21713647; PMCID: PMC3289250.</a:t>
            </a:r>
            <a:endParaRPr lang="en-US" sz="1333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CA9FEF-4869-0296-EEF2-2D39A5862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3443" y="3124909"/>
            <a:ext cx="2794000" cy="279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1028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EEC0D-F765-DAC7-4FC0-76EA752C7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8CB15-B14C-2EC7-9B13-262508DBD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Primary Psychotic Disorders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9E1C4-7493-2995-15A1-9DCC2721D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Post Traumatic Stress Disorder</a:t>
            </a:r>
          </a:p>
          <a:p>
            <a:pPr lvl="1"/>
            <a:r>
              <a:rPr lang="en-US" dirty="0"/>
              <a:t>PTSD-SP- PTSD with Secondary Psychotic Features</a:t>
            </a:r>
          </a:p>
          <a:p>
            <a:pPr lvl="2"/>
            <a:r>
              <a:rPr lang="en-US" dirty="0"/>
              <a:t>Hallucinations, Delusions</a:t>
            </a:r>
          </a:p>
          <a:p>
            <a:pPr lvl="2"/>
            <a:r>
              <a:rPr lang="en-US" dirty="0"/>
              <a:t>Often </a:t>
            </a:r>
            <a:r>
              <a:rPr lang="en-US" b="1" dirty="0">
                <a:solidFill>
                  <a:srgbClr val="D54070"/>
                </a:solidFill>
              </a:rPr>
              <a:t>retain</a:t>
            </a:r>
            <a:r>
              <a:rPr lang="en-US" dirty="0"/>
              <a:t> reality testing</a:t>
            </a:r>
          </a:p>
          <a:p>
            <a:pPr lvl="2"/>
            <a:r>
              <a:rPr lang="en-US" dirty="0"/>
              <a:t>Risk factors include childhood trauma, co-morbid depression, substance use</a:t>
            </a:r>
          </a:p>
          <a:p>
            <a:pPr lvl="2"/>
            <a:r>
              <a:rPr lang="en-US" dirty="0"/>
              <a:t>Therapy appears to be most effective treatment</a:t>
            </a:r>
          </a:p>
          <a:p>
            <a:pPr lvl="1"/>
            <a:endParaRPr lang="en-US" dirty="0"/>
          </a:p>
          <a:p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487738-3DDC-51CA-5ACD-108E64BF7C7F}"/>
              </a:ext>
            </a:extLst>
          </p:cNvPr>
          <p:cNvSpPr txBox="1"/>
          <p:nvPr/>
        </p:nvSpPr>
        <p:spPr>
          <a:xfrm>
            <a:off x="280946" y="5643484"/>
            <a:ext cx="11630108" cy="707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3" dirty="0">
                <a:solidFill>
                  <a:srgbClr val="1B1B1B"/>
                </a:solidFill>
              </a:rPr>
              <a:t>Compean E, Hamner M. Posttraumatic stress disorder with secondary psychotic features (PTSD-SP): Diagnostic and treatment challenges. Prog </a:t>
            </a:r>
            <a:r>
              <a:rPr lang="en-US" sz="1333" dirty="0" err="1">
                <a:solidFill>
                  <a:srgbClr val="1B1B1B"/>
                </a:solidFill>
              </a:rPr>
              <a:t>Neuropsychopharmacol</a:t>
            </a:r>
            <a:r>
              <a:rPr lang="en-US" sz="1333" dirty="0">
                <a:solidFill>
                  <a:srgbClr val="1B1B1B"/>
                </a:solidFill>
              </a:rPr>
              <a:t> Biol Psychiatry. 2019 Jan 10;88:265-275. </a:t>
            </a:r>
            <a:r>
              <a:rPr lang="en-US" sz="1333" dirty="0" err="1">
                <a:solidFill>
                  <a:srgbClr val="1B1B1B"/>
                </a:solidFill>
              </a:rPr>
              <a:t>doi</a:t>
            </a:r>
            <a:r>
              <a:rPr lang="en-US" sz="1333" dirty="0">
                <a:solidFill>
                  <a:srgbClr val="1B1B1B"/>
                </a:solidFill>
              </a:rPr>
              <a:t>: 10.1016/j.pnpbp.2018.08.001. </a:t>
            </a:r>
            <a:r>
              <a:rPr lang="en-US" sz="1333" dirty="0" err="1">
                <a:solidFill>
                  <a:srgbClr val="1B1B1B"/>
                </a:solidFill>
              </a:rPr>
              <a:t>Epub</a:t>
            </a:r>
            <a:r>
              <a:rPr lang="en-US" sz="1333" dirty="0">
                <a:solidFill>
                  <a:srgbClr val="1B1B1B"/>
                </a:solidFill>
              </a:rPr>
              <a:t> 2018 Aug 6. PMID: 30092241; PMCID: PMC6459196.</a:t>
            </a:r>
            <a:endParaRPr lang="en-US" sz="1333" dirty="0"/>
          </a:p>
        </p:txBody>
      </p:sp>
    </p:spTree>
    <p:extLst>
      <p:ext uri="{BB962C8B-B14F-4D97-AF65-F5344CB8AC3E}">
        <p14:creationId xmlns:p14="http://schemas.microsoft.com/office/powerpoint/2010/main" val="42650354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15035-8991-7F7B-2004-19373789D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actus plants in a desert&#10;&#10;AI-generated content may be incorrect.">
            <a:extLst>
              <a:ext uri="{FF2B5EF4-FFF2-40B4-BE49-F238E27FC236}">
                <a16:creationId xmlns:a16="http://schemas.microsoft.com/office/drawing/2014/main" id="{4BD239E9-8F4B-0A13-77C1-35C80653F9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13" b="2278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2686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BFA9B-F8FC-E13C-66EE-643DBCC4E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B7544-3227-EED0-BF20-E3393777B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Psychotic Illnesses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DBECE-B022-3596-A762-D8C9F3F24A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Primary Psychotic Disorder:</a:t>
            </a:r>
          </a:p>
          <a:p>
            <a:pPr lvl="1"/>
            <a:r>
              <a:rPr lang="en-US" dirty="0"/>
              <a:t>The symptom of psychosis is directly linked to a psychiatric illness, such as schizophrenia</a:t>
            </a:r>
          </a:p>
          <a:p>
            <a:pPr lvl="1"/>
            <a:endParaRPr lang="en-US" dirty="0"/>
          </a:p>
          <a:p>
            <a:r>
              <a:rPr lang="en-US" dirty="0"/>
              <a:t>Secondary Psychotic Disorder:</a:t>
            </a:r>
          </a:p>
          <a:p>
            <a:pPr lvl="1"/>
            <a:r>
              <a:rPr lang="en-US" dirty="0"/>
              <a:t>The symptom of psychosis is due to an underlying organic cause, such as delirium, intoxication, encephalopathy, or another medical illness</a:t>
            </a:r>
          </a:p>
          <a:p>
            <a:endParaRPr lang="en-US" sz="4267" dirty="0"/>
          </a:p>
        </p:txBody>
      </p:sp>
    </p:spTree>
    <p:extLst>
      <p:ext uri="{BB962C8B-B14F-4D97-AF65-F5344CB8AC3E}">
        <p14:creationId xmlns:p14="http://schemas.microsoft.com/office/powerpoint/2010/main" val="1508779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3B44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3B44A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AD33B-ED5B-6D91-9A32-7566384A4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150FC-63F5-E50D-4117-A8D96B2E2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Secondary Psychotic Disorders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8487D-9D49-EB5D-193D-23CAA46DB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Substance Use</a:t>
            </a:r>
          </a:p>
          <a:p>
            <a:pPr lvl="1"/>
            <a:r>
              <a:rPr lang="en-US" sz="2667" dirty="0"/>
              <a:t>Stimulants (amphetamines, methamphetamine)</a:t>
            </a:r>
          </a:p>
          <a:p>
            <a:pPr lvl="1"/>
            <a:r>
              <a:rPr lang="en-US" sz="2667" dirty="0"/>
              <a:t>Synthetics (K2, spice, bath salts)</a:t>
            </a:r>
          </a:p>
          <a:p>
            <a:pPr lvl="1"/>
            <a:r>
              <a:rPr lang="en-US" sz="2667" dirty="0"/>
              <a:t>Marijuana</a:t>
            </a:r>
          </a:p>
          <a:p>
            <a:pPr lvl="1"/>
            <a:r>
              <a:rPr lang="en-US" sz="2667" dirty="0"/>
              <a:t>Alcohol</a:t>
            </a:r>
          </a:p>
          <a:p>
            <a:pPr lvl="1"/>
            <a:r>
              <a:rPr lang="en-US" sz="2667" dirty="0"/>
              <a:t>Others: PCP, ketamine, Benadryl, LSD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615082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FE98B-7B15-BB7B-85A3-F2A322FE2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2D360-0FEF-F036-FF03-E0D367517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Secondary Psychotic Disorders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148A0-091C-EDAA-3CB9-8D8330A23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Substance Use</a:t>
            </a:r>
          </a:p>
          <a:p>
            <a:pPr lvl="1"/>
            <a:r>
              <a:rPr lang="en-US" sz="2667" dirty="0"/>
              <a:t>Marijuana- 12% of youth in OH report using in past year</a:t>
            </a:r>
          </a:p>
          <a:p>
            <a:pPr lvl="1"/>
            <a:r>
              <a:rPr lang="en-US" sz="2667" dirty="0"/>
              <a:t>Alcohol- 10% of youth in OH report using in past month</a:t>
            </a:r>
          </a:p>
          <a:p>
            <a:pPr lvl="1"/>
            <a:r>
              <a:rPr lang="en-US" sz="2667" dirty="0"/>
              <a:t>Stimulants- 1-4% depending on age and substance in past year</a:t>
            </a:r>
          </a:p>
          <a:p>
            <a:pPr lvl="1"/>
            <a:r>
              <a:rPr lang="en-US" sz="2667" dirty="0"/>
              <a:t>15% of high school students reported having ever used select illicit or injection drugs (i.e. cocaine, inhalants, heroin, methamphetamines, hallucinogens, or ecstasy)</a:t>
            </a:r>
          </a:p>
        </p:txBody>
      </p:sp>
    </p:spTree>
    <p:extLst>
      <p:ext uri="{BB962C8B-B14F-4D97-AF65-F5344CB8AC3E}">
        <p14:creationId xmlns:p14="http://schemas.microsoft.com/office/powerpoint/2010/main" val="4786555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8BCA1-01D7-CBB7-C19A-A088E5FBE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13219-1857-0837-3E81-5C9DBA6EF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Secondary Psychotic Disorders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D4DDC-C6DC-F975-239A-C7DFD4A33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Substance-induced psychosis is many times more likely than new-onset primary psychotic illness and accounts for the majority of psychotic presentations in the ED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947791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80B52-9ED0-07A8-1575-7E249CBCC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6195D-54D7-FB79-FAC9-0F690D174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Secondary Psychotic Disorders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022E9-0651-D726-C0BF-B53B282A7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Other medical causes:</a:t>
            </a:r>
          </a:p>
          <a:p>
            <a:pPr lvl="1"/>
            <a:r>
              <a:rPr lang="en-US" sz="2267" dirty="0"/>
              <a:t>Encephalitis</a:t>
            </a:r>
          </a:p>
          <a:p>
            <a:pPr lvl="1"/>
            <a:r>
              <a:rPr lang="en-US" sz="2267" dirty="0"/>
              <a:t>Brain tumors or other lesions</a:t>
            </a:r>
          </a:p>
          <a:p>
            <a:pPr lvl="1"/>
            <a:r>
              <a:rPr lang="en-US" sz="2267" dirty="0"/>
              <a:t>Metabolic disorders</a:t>
            </a:r>
          </a:p>
          <a:p>
            <a:pPr lvl="1"/>
            <a:r>
              <a:rPr lang="en-US" sz="2267" dirty="0"/>
              <a:t>Endocrine disorders</a:t>
            </a:r>
            <a:endParaRPr lang="en-US" sz="1867" dirty="0"/>
          </a:p>
          <a:p>
            <a:pPr lvl="1"/>
            <a:r>
              <a:rPr lang="en-US" sz="2267" dirty="0"/>
              <a:t>Medication induced </a:t>
            </a:r>
          </a:p>
          <a:p>
            <a:pPr lvl="2"/>
            <a:r>
              <a:rPr lang="en-US" sz="1867" dirty="0"/>
              <a:t>Steroids</a:t>
            </a:r>
          </a:p>
          <a:p>
            <a:pPr lvl="2"/>
            <a:r>
              <a:rPr lang="en-US" sz="1867" dirty="0"/>
              <a:t>Stimulants</a:t>
            </a:r>
          </a:p>
          <a:p>
            <a:pPr lvl="2"/>
            <a:r>
              <a:rPr lang="en-US" sz="1867" dirty="0"/>
              <a:t>Anticholinergics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881841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9BFA9-8454-5276-F964-33472D0C8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arge building with a clock with Cincinnati Museum Center at Union Terminal in the background&#10;&#10;AI-generated content may be incorrect.">
            <a:extLst>
              <a:ext uri="{FF2B5EF4-FFF2-40B4-BE49-F238E27FC236}">
                <a16:creationId xmlns:a16="http://schemas.microsoft.com/office/drawing/2014/main" id="{2893E38E-9576-2FBB-5CA3-E9298953B0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752" b="387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1718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967AA-6EC3-582E-1503-07BEA4056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8A3E1-7F04-FD6E-5DAF-234C8FEDA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Referral: Red Flags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CAFB9-D16F-1987-5ED4-BB9AB64F9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SI/HI</a:t>
            </a:r>
          </a:p>
          <a:p>
            <a:r>
              <a:rPr lang="en-US" dirty="0"/>
              <a:t>Severe aggression/agitation (concern for physical safety)</a:t>
            </a:r>
          </a:p>
          <a:p>
            <a:r>
              <a:rPr lang="en-US" dirty="0"/>
              <a:t>Catatonia- extreme withdrawal and inability to care for self</a:t>
            </a:r>
          </a:p>
          <a:p>
            <a:r>
              <a:rPr lang="en-US" dirty="0"/>
              <a:t>Concern for medical instability</a:t>
            </a:r>
          </a:p>
          <a:p>
            <a:r>
              <a:rPr lang="en-US" dirty="0"/>
              <a:t>Very young age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962332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CB43E-4503-92B9-8C41-504F627FD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E0AD3-5359-EA8F-951A-B9A7244BA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Referral: Don’t try to manage alone!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5EA52-8C77-754A-3344-8DEE76DBD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 to psychiatry for any patient with a suspected new-onset primary psychotic disorder</a:t>
            </a:r>
          </a:p>
          <a:p>
            <a:r>
              <a:rPr lang="en-US" dirty="0"/>
              <a:t>Where??</a:t>
            </a:r>
          </a:p>
          <a:p>
            <a:pPr lvl="1"/>
            <a:r>
              <a:rPr lang="en-US" dirty="0"/>
              <a:t>A local psychiatrist</a:t>
            </a:r>
          </a:p>
          <a:p>
            <a:pPr lvl="1"/>
            <a:r>
              <a:rPr lang="en-US" dirty="0"/>
              <a:t>Your closest academic medical center</a:t>
            </a:r>
          </a:p>
          <a:p>
            <a:pPr lvl="1"/>
            <a:r>
              <a:rPr lang="en-US" dirty="0"/>
              <a:t>A dedicated Early Intervention program</a:t>
            </a:r>
          </a:p>
          <a:p>
            <a:r>
              <a:rPr lang="en-US" dirty="0"/>
              <a:t>Timing??</a:t>
            </a:r>
          </a:p>
          <a:p>
            <a:pPr lvl="1"/>
            <a:r>
              <a:rPr lang="en-US" dirty="0"/>
              <a:t>Ideally they are being seen urgently- within days</a:t>
            </a:r>
          </a:p>
        </p:txBody>
      </p:sp>
    </p:spTree>
    <p:extLst>
      <p:ext uri="{BB962C8B-B14F-4D97-AF65-F5344CB8AC3E}">
        <p14:creationId xmlns:p14="http://schemas.microsoft.com/office/powerpoint/2010/main" val="26821785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73EE7-C3A3-0133-BC3E-236231C24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9A9AF-5C41-CAB8-30A9-BD9E3C7BB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Early Intervention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1F817-9440-9C9F-EC5E-666F418D1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D54070"/>
                </a:solidFill>
              </a:rPr>
              <a:t>Improved</a:t>
            </a:r>
            <a:r>
              <a:rPr lang="en-US" sz="2800" dirty="0"/>
              <a:t> long-term outcomes are associated with shorter duration of untreated psychosis, early intervention services, family and social support and engagement with treatment</a:t>
            </a:r>
          </a:p>
          <a:p>
            <a:endParaRPr lang="en-US" sz="2800" dirty="0"/>
          </a:p>
          <a:p>
            <a:r>
              <a:rPr lang="en-US" sz="2800" b="1" dirty="0">
                <a:solidFill>
                  <a:srgbClr val="D54070"/>
                </a:solidFill>
              </a:rPr>
              <a:t>Worse</a:t>
            </a:r>
            <a:r>
              <a:rPr lang="en-US" sz="2800" dirty="0"/>
              <a:t> long-term outcomes are linked to longer duration of untreated psychosis, persistent negative symptoms, comorbid substance use and poor adherence.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1176C2-E645-7BE4-1A28-B63FB387DD99}"/>
              </a:ext>
            </a:extLst>
          </p:cNvPr>
          <p:cNvSpPr txBox="1"/>
          <p:nvPr/>
        </p:nvSpPr>
        <p:spPr>
          <a:xfrm>
            <a:off x="993914" y="5027933"/>
            <a:ext cx="10204173" cy="1323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33" dirty="0">
                <a:solidFill>
                  <a:srgbClr val="212121"/>
                </a:solidFill>
              </a:rPr>
              <a:t>Anderson KK, Norman R, MacDougall A, Edwards J, Palaniyappan L, Lau C, </a:t>
            </a:r>
            <a:r>
              <a:rPr lang="en-US" sz="1333" dirty="0" err="1">
                <a:solidFill>
                  <a:srgbClr val="212121"/>
                </a:solidFill>
              </a:rPr>
              <a:t>Kurdyak</a:t>
            </a:r>
            <a:r>
              <a:rPr lang="en-US" sz="1333" dirty="0">
                <a:solidFill>
                  <a:srgbClr val="212121"/>
                </a:solidFill>
              </a:rPr>
              <a:t> P. Effectiveness of Early Psychosis Intervention: Comparison of Service Users and Nonusers in Population-Based Health Administrative Data. Am J Psychiatry. 2018 May 1;175(5):443-452. </a:t>
            </a:r>
            <a:r>
              <a:rPr lang="en-US" sz="1333" dirty="0" err="1">
                <a:solidFill>
                  <a:srgbClr val="212121"/>
                </a:solidFill>
              </a:rPr>
              <a:t>doi</a:t>
            </a:r>
            <a:r>
              <a:rPr lang="en-US" sz="1333" dirty="0">
                <a:solidFill>
                  <a:srgbClr val="212121"/>
                </a:solidFill>
              </a:rPr>
              <a:t>: 10.1176/appi.ajp.2017.17050480. </a:t>
            </a:r>
            <a:r>
              <a:rPr lang="en-US" sz="1333" dirty="0" err="1">
                <a:solidFill>
                  <a:srgbClr val="212121"/>
                </a:solidFill>
              </a:rPr>
              <a:t>Epub</a:t>
            </a:r>
            <a:r>
              <a:rPr lang="en-US" sz="1333" dirty="0">
                <a:solidFill>
                  <a:srgbClr val="212121"/>
                </a:solidFill>
              </a:rPr>
              <a:t> 2018 Mar 2. PMID: 29495897.</a:t>
            </a:r>
          </a:p>
          <a:p>
            <a:r>
              <a:rPr lang="en-US" sz="1333" dirty="0"/>
              <a:t>Correll CU, Galling B, Pawar A, et al. Comparison of Early Intervention Services vs Treatment as Usual for Early-Phase Psychosis: A Systematic Review, Meta-analysis, and Meta-regression. JAMA Psychiatry. 2018;75(6):555–565. doi:10.1001/jamapsychiatry.2018.0623</a:t>
            </a:r>
          </a:p>
        </p:txBody>
      </p:sp>
    </p:spTree>
    <p:extLst>
      <p:ext uri="{BB962C8B-B14F-4D97-AF65-F5344CB8AC3E}">
        <p14:creationId xmlns:p14="http://schemas.microsoft.com/office/powerpoint/2010/main" val="21363605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9FB06-89C5-D4E9-A374-9EF0F4B06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EE061-50D6-BE5F-9386-0D48593D0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Early Intervention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AE547-59AD-80D3-01FA-1A4809798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Early Intervention Programs</a:t>
            </a:r>
          </a:p>
          <a:p>
            <a:pPr lvl="1"/>
            <a:r>
              <a:rPr lang="en-US" dirty="0"/>
              <a:t>Multidisciplinary teams</a:t>
            </a:r>
          </a:p>
          <a:p>
            <a:pPr lvl="1"/>
            <a:r>
              <a:rPr lang="en-US" dirty="0"/>
              <a:t>Psychosocial interventions</a:t>
            </a:r>
          </a:p>
          <a:p>
            <a:pPr lvl="2"/>
            <a:r>
              <a:rPr lang="en-US" dirty="0"/>
              <a:t>Psychotherapy</a:t>
            </a:r>
          </a:p>
          <a:p>
            <a:pPr lvl="2"/>
            <a:r>
              <a:rPr lang="en-US" dirty="0"/>
              <a:t>Family support</a:t>
            </a:r>
          </a:p>
          <a:p>
            <a:pPr lvl="2"/>
            <a:r>
              <a:rPr lang="en-US" dirty="0"/>
              <a:t>Education programs</a:t>
            </a:r>
          </a:p>
          <a:p>
            <a:pPr lvl="2"/>
            <a:r>
              <a:rPr lang="en-US" dirty="0"/>
              <a:t>Case management</a:t>
            </a:r>
          </a:p>
          <a:p>
            <a:pPr lvl="1"/>
            <a:r>
              <a:rPr lang="en-US" dirty="0"/>
              <a:t>Psychopharmacological interventions</a:t>
            </a:r>
          </a:p>
          <a:p>
            <a:pPr lvl="1"/>
            <a:r>
              <a:rPr lang="en-US" dirty="0"/>
              <a:t>All located in the same place to encourage adherence</a:t>
            </a:r>
          </a:p>
        </p:txBody>
      </p:sp>
    </p:spTree>
    <p:extLst>
      <p:ext uri="{BB962C8B-B14F-4D97-AF65-F5344CB8AC3E}">
        <p14:creationId xmlns:p14="http://schemas.microsoft.com/office/powerpoint/2010/main" val="38158049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4134E-072A-9666-DEF5-80475A805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F66B8-D667-4274-7736-70DBB01E5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4"/>
          </a:xfrm>
        </p:spPr>
        <p:txBody>
          <a:bodyPr anchor="ctr">
            <a:normAutofit/>
          </a:bodyPr>
          <a:lstStyle/>
          <a:p>
            <a:r>
              <a:rPr lang="en-US" dirty="0"/>
              <a:t>Early Intervention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AEA6B-63EB-3482-36B8-FCDF4FFB29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773849" cy="4351339"/>
          </a:xfrm>
        </p:spPr>
        <p:txBody>
          <a:bodyPr>
            <a:normAutofit/>
          </a:bodyPr>
          <a:lstStyle/>
          <a:p>
            <a:r>
              <a:rPr lang="en-US" dirty="0"/>
              <a:t>Early Intervention Programs</a:t>
            </a:r>
          </a:p>
          <a:p>
            <a:pPr lvl="1"/>
            <a:r>
              <a:rPr lang="en-US" sz="2800" b="1" dirty="0">
                <a:solidFill>
                  <a:srgbClr val="D54070"/>
                </a:solidFill>
              </a:rPr>
              <a:t>NIMH: Early Psychosis Intervention Network (EPINET)</a:t>
            </a:r>
          </a:p>
          <a:p>
            <a:pPr lvl="2"/>
            <a:r>
              <a:rPr lang="en-US" sz="2400" dirty="0"/>
              <a:t>Standardized measures</a:t>
            </a:r>
          </a:p>
          <a:p>
            <a:pPr lvl="2"/>
            <a:r>
              <a:rPr lang="en-US" sz="2400" dirty="0"/>
              <a:t>Resources on treatment</a:t>
            </a:r>
          </a:p>
          <a:p>
            <a:pPr lvl="2"/>
            <a:r>
              <a:rPr lang="en-US" sz="2400" dirty="0"/>
              <a:t>Regional Hubs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CD4493-0FA4-B3AD-306D-9C50372FFB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7877" y="1831532"/>
            <a:ext cx="3435923" cy="3435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6121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9AD88-340E-3F7F-DC25-F89E7DC1A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ocky coast with a sea and a bird flying over&#10;&#10;AI-generated content may be incorrect.">
            <a:extLst>
              <a:ext uri="{FF2B5EF4-FFF2-40B4-BE49-F238E27FC236}">
                <a16:creationId xmlns:a16="http://schemas.microsoft.com/office/drawing/2014/main" id="{96A5BD9E-E1FC-EE02-DCA1-E88F7F074F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181" b="18526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0607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03CA9-AC8F-D1D1-D0AB-B9C3DACA0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04BFF-AB42-D781-A4BE-5817C94C2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Treatment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A2CC6-9330-DD4D-B7DE-D72FF2CE7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800" dirty="0"/>
              <a:t>Remember those factors linked to </a:t>
            </a:r>
            <a:r>
              <a:rPr lang="en-US" sz="2800" b="1" dirty="0">
                <a:solidFill>
                  <a:srgbClr val="D54070"/>
                </a:solidFill>
              </a:rPr>
              <a:t>improved outcomes</a:t>
            </a:r>
            <a:r>
              <a:rPr lang="en-US" sz="2800" dirty="0"/>
              <a:t>:</a:t>
            </a:r>
          </a:p>
          <a:p>
            <a:pPr lvl="1"/>
            <a:r>
              <a:rPr lang="en-US" dirty="0"/>
              <a:t>Adherence to treatment: your role as a medical home can help build that therapeutic alliance and encourage adherence</a:t>
            </a:r>
          </a:p>
          <a:p>
            <a:pPr lvl="1"/>
            <a:r>
              <a:rPr lang="en-US" dirty="0"/>
              <a:t>Family Support: psychoeducation and supporting the family on importance of treatment and adherence</a:t>
            </a:r>
          </a:p>
          <a:p>
            <a:pPr lvl="1"/>
            <a:r>
              <a:rPr lang="en-US" dirty="0"/>
              <a:t>Educate about risk factors: substance use, non-adherence</a:t>
            </a:r>
          </a:p>
          <a:p>
            <a:pPr lvl="1"/>
            <a:r>
              <a:rPr lang="en-US" dirty="0"/>
              <a:t>If no formal early intervention program is available, try to recreate pieces with referrals:</a:t>
            </a:r>
          </a:p>
          <a:p>
            <a:pPr lvl="2"/>
            <a:r>
              <a:rPr lang="en-US" dirty="0"/>
              <a:t>Social Services</a:t>
            </a:r>
          </a:p>
          <a:p>
            <a:pPr lvl="2"/>
            <a:r>
              <a:rPr lang="en-US" dirty="0"/>
              <a:t>Psychology</a:t>
            </a:r>
          </a:p>
          <a:p>
            <a:pPr lvl="2"/>
            <a:r>
              <a:rPr lang="en-US" dirty="0"/>
              <a:t>Psychiatry</a:t>
            </a:r>
          </a:p>
          <a:p>
            <a:pPr lvl="2"/>
            <a:r>
              <a:rPr lang="en-US" dirty="0"/>
              <a:t>Occupational Therapy</a:t>
            </a:r>
          </a:p>
        </p:txBody>
      </p:sp>
    </p:spTree>
    <p:extLst>
      <p:ext uri="{BB962C8B-B14F-4D97-AF65-F5344CB8AC3E}">
        <p14:creationId xmlns:p14="http://schemas.microsoft.com/office/powerpoint/2010/main" val="30408163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BAB5B-6F83-7054-6A5B-8CFF7300B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F7360-A646-CD06-4F98-3659EF7A5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Treatment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4BEB1-3146-6026-0B7D-6ED07DDEF9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800" dirty="0"/>
              <a:t>Psychopharmacology: </a:t>
            </a:r>
            <a:r>
              <a:rPr lang="en-US" sz="2800" b="1" dirty="0">
                <a:solidFill>
                  <a:srgbClr val="D54070"/>
                </a:solidFill>
              </a:rPr>
              <a:t>Untreated psychosis is harmful</a:t>
            </a:r>
          </a:p>
          <a:p>
            <a:pPr lvl="1"/>
            <a:r>
              <a:rPr lang="en-US" dirty="0"/>
              <a:t>FDA approved for adolescent schizophrenia:</a:t>
            </a:r>
          </a:p>
          <a:p>
            <a:pPr lvl="2"/>
            <a:r>
              <a:rPr lang="en-US" dirty="0"/>
              <a:t>Risperidone (available as LAI- Long-acting injectable)</a:t>
            </a:r>
          </a:p>
          <a:p>
            <a:pPr lvl="2"/>
            <a:r>
              <a:rPr lang="en-US" dirty="0"/>
              <a:t>Aripiprazole (available as LAI)</a:t>
            </a:r>
          </a:p>
          <a:p>
            <a:pPr lvl="2"/>
            <a:r>
              <a:rPr lang="en-US" dirty="0"/>
              <a:t>Olanzapine (available as LAI)</a:t>
            </a:r>
          </a:p>
          <a:p>
            <a:pPr lvl="2"/>
            <a:r>
              <a:rPr lang="en-US" dirty="0"/>
              <a:t>Quetiapine</a:t>
            </a:r>
          </a:p>
          <a:p>
            <a:pPr lvl="1"/>
            <a:r>
              <a:rPr lang="en-US" dirty="0"/>
              <a:t>Off label:</a:t>
            </a:r>
          </a:p>
          <a:p>
            <a:pPr lvl="2"/>
            <a:r>
              <a:rPr lang="en-US" dirty="0"/>
              <a:t>Ziprasidone</a:t>
            </a:r>
          </a:p>
          <a:p>
            <a:pPr lvl="2"/>
            <a:r>
              <a:rPr lang="en-US" dirty="0"/>
              <a:t>Lurasidone</a:t>
            </a:r>
          </a:p>
          <a:p>
            <a:pPr lvl="2"/>
            <a:r>
              <a:rPr lang="en-US" dirty="0"/>
              <a:t>Paliperidone (available as LAI- can transition directly from oral risperidone trial)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3F798D-3697-2D77-B226-26BD19F64CD9}"/>
              </a:ext>
            </a:extLst>
          </p:cNvPr>
          <p:cNvSpPr txBox="1"/>
          <p:nvPr/>
        </p:nvSpPr>
        <p:spPr>
          <a:xfrm>
            <a:off x="3922644" y="5819458"/>
            <a:ext cx="91796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AACAP Practice Parameters: Atypical Antipsychotics Medications </a:t>
            </a:r>
          </a:p>
        </p:txBody>
      </p:sp>
    </p:spTree>
    <p:extLst>
      <p:ext uri="{BB962C8B-B14F-4D97-AF65-F5344CB8AC3E}">
        <p14:creationId xmlns:p14="http://schemas.microsoft.com/office/powerpoint/2010/main" val="31535818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CD91A-9D27-8B9B-72A7-9E82109E4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40D70-A256-F4EA-DBD5-A13B797F3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Wrap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05C3B-239B-0557-E102-965FC1BCE9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Early Recognition = Early Treatment = Better Outcomes</a:t>
            </a:r>
          </a:p>
          <a:p>
            <a:r>
              <a:rPr lang="en-US" dirty="0"/>
              <a:t>Psychosis can range from a brief substance-induced episode that never recures to a life-long illness with significant disability</a:t>
            </a:r>
          </a:p>
          <a:p>
            <a:r>
              <a:rPr lang="en-US" dirty="0"/>
              <a:t>The PCP plays an important role in both initial crisis management and serving as an ongoing medical home and maintaining a therapeutic alliance</a:t>
            </a:r>
          </a:p>
          <a:p>
            <a:r>
              <a:rPr lang="en-US" dirty="0"/>
              <a:t>Pharmacotherapy for psychosis come with significant side effects requiring regular monitoring in partnership with the psychiatric team</a:t>
            </a:r>
          </a:p>
        </p:txBody>
      </p:sp>
    </p:spTree>
    <p:extLst>
      <p:ext uri="{BB962C8B-B14F-4D97-AF65-F5344CB8AC3E}">
        <p14:creationId xmlns:p14="http://schemas.microsoft.com/office/powerpoint/2010/main" val="18294650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2"/>
          <a:srcRect l="-96" t="9502" r="-76" b="19227"/>
          <a:stretch/>
        </p:blipFill>
        <p:spPr>
          <a:xfrm>
            <a:off x="-27295" y="-54590"/>
            <a:ext cx="12228394" cy="6960358"/>
          </a:xfrm>
          <a:prstGeom prst="rect">
            <a:avLst/>
          </a:prstGeom>
        </p:spPr>
      </p:pic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497109" y="1382477"/>
            <a:ext cx="10972800" cy="36881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59B8DB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348535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387927" y="850214"/>
            <a:ext cx="10972800" cy="3688125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3600" dirty="0"/>
              <a:t>Numbers taken from various government websites</a:t>
            </a:r>
          </a:p>
        </p:txBody>
      </p:sp>
    </p:spTree>
    <p:extLst>
      <p:ext uri="{BB962C8B-B14F-4D97-AF65-F5344CB8AC3E}">
        <p14:creationId xmlns:p14="http://schemas.microsoft.com/office/powerpoint/2010/main" val="206008089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Custom 2">
      <a:dk1>
        <a:srgbClr val="565A5C"/>
      </a:dk1>
      <a:lt1>
        <a:sysClr val="window" lastClr="FFFFFF"/>
      </a:lt1>
      <a:dk2>
        <a:srgbClr val="808080"/>
      </a:dk2>
      <a:lt2>
        <a:srgbClr val="B3B3B3"/>
      </a:lt2>
      <a:accent1>
        <a:srgbClr val="009CB1"/>
      </a:accent1>
      <a:accent2>
        <a:srgbClr val="77BC1F"/>
      </a:accent2>
      <a:accent3>
        <a:srgbClr val="A1CD3A"/>
      </a:accent3>
      <a:accent4>
        <a:srgbClr val="9AD1DC"/>
      </a:accent4>
      <a:accent5>
        <a:srgbClr val="6EC4E9"/>
      </a:accent5>
      <a:accent6>
        <a:srgbClr val="E7417A"/>
      </a:accent6>
      <a:hlink>
        <a:srgbClr val="0563C1"/>
      </a:hlink>
      <a:folHlink>
        <a:srgbClr val="954F7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Custom Design">
  <a:themeElements>
    <a:clrScheme name="Custom 2">
      <a:dk1>
        <a:srgbClr val="565A5C"/>
      </a:dk1>
      <a:lt1>
        <a:sysClr val="window" lastClr="FFFFFF"/>
      </a:lt1>
      <a:dk2>
        <a:srgbClr val="808080"/>
      </a:dk2>
      <a:lt2>
        <a:srgbClr val="B3B3B3"/>
      </a:lt2>
      <a:accent1>
        <a:srgbClr val="009CB1"/>
      </a:accent1>
      <a:accent2>
        <a:srgbClr val="77BC1F"/>
      </a:accent2>
      <a:accent3>
        <a:srgbClr val="A1CD3A"/>
      </a:accent3>
      <a:accent4>
        <a:srgbClr val="9AD1DC"/>
      </a:accent4>
      <a:accent5>
        <a:srgbClr val="6EC4E9"/>
      </a:accent5>
      <a:accent6>
        <a:srgbClr val="E7417A"/>
      </a:accent6>
      <a:hlink>
        <a:srgbClr val="0563C1"/>
      </a:hlink>
      <a:folHlink>
        <a:srgbClr val="954F7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2_Custom Design">
  <a:themeElements>
    <a:clrScheme name="Custom 2">
      <a:dk1>
        <a:srgbClr val="565A5C"/>
      </a:dk1>
      <a:lt1>
        <a:sysClr val="window" lastClr="FFFFFF"/>
      </a:lt1>
      <a:dk2>
        <a:srgbClr val="808080"/>
      </a:dk2>
      <a:lt2>
        <a:srgbClr val="B3B3B3"/>
      </a:lt2>
      <a:accent1>
        <a:srgbClr val="009CB1"/>
      </a:accent1>
      <a:accent2>
        <a:srgbClr val="77BC1F"/>
      </a:accent2>
      <a:accent3>
        <a:srgbClr val="A1CD3A"/>
      </a:accent3>
      <a:accent4>
        <a:srgbClr val="9AD1DC"/>
      </a:accent4>
      <a:accent5>
        <a:srgbClr val="6EC4E9"/>
      </a:accent5>
      <a:accent6>
        <a:srgbClr val="E7417A"/>
      </a:accent6>
      <a:hlink>
        <a:srgbClr val="0563C1"/>
      </a:hlink>
      <a:folHlink>
        <a:srgbClr val="954F7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3_Custom Design">
  <a:themeElements>
    <a:clrScheme name="Custom 2">
      <a:dk1>
        <a:srgbClr val="565A5C"/>
      </a:dk1>
      <a:lt1>
        <a:sysClr val="window" lastClr="FFFFFF"/>
      </a:lt1>
      <a:dk2>
        <a:srgbClr val="808080"/>
      </a:dk2>
      <a:lt2>
        <a:srgbClr val="B3B3B3"/>
      </a:lt2>
      <a:accent1>
        <a:srgbClr val="009CB1"/>
      </a:accent1>
      <a:accent2>
        <a:srgbClr val="77BC1F"/>
      </a:accent2>
      <a:accent3>
        <a:srgbClr val="A1CD3A"/>
      </a:accent3>
      <a:accent4>
        <a:srgbClr val="9AD1DC"/>
      </a:accent4>
      <a:accent5>
        <a:srgbClr val="6EC4E9"/>
      </a:accent5>
      <a:accent6>
        <a:srgbClr val="E7417A"/>
      </a:accent6>
      <a:hlink>
        <a:srgbClr val="0563C1"/>
      </a:hlink>
      <a:folHlink>
        <a:srgbClr val="954F7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webextension1.xml><?xml version="1.0" encoding="utf-8"?>
<we:webextension xmlns:we="http://schemas.microsoft.com/office/webextensions/webextension/2010/11" id="{8910820A-14C8-FA41-ADF9-D3D8A42DA165}">
  <we:reference id="wa104381526" version="1.0.0.2" store="en-US" storeType="OMEX"/>
  <we:alternateReferences>
    <we:reference id="WA104381526" version="1.0.0.2" store="WA104381526" storeType="OMEX"/>
  </we:alternateReferences>
  <we:properties>
    <we:property name="FormID" value="&quot;1FQCaIsnoUqsqMJgD3nFM3q3_UZnhURLiiyf7yvF2nFUM0xXMzVYMFo5NjMxMDkzRzRHSEQyNE9ENS4u&quot;"/>
    <we:property name="FormMode" value="&quot;DesignTim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</TotalTime>
  <Words>1534</Words>
  <Application>Microsoft Macintosh PowerPoint</Application>
  <PresentationFormat>Widescreen</PresentationFormat>
  <Paragraphs>221</Paragraphs>
  <Slides>37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37</vt:i4>
      </vt:variant>
    </vt:vector>
  </HeadingPairs>
  <TitlesOfParts>
    <vt:vector size="45" baseType="lpstr">
      <vt:lpstr>Aptos</vt:lpstr>
      <vt:lpstr>Arial</vt:lpstr>
      <vt:lpstr>Calibri</vt:lpstr>
      <vt:lpstr>Segoe UI</vt:lpstr>
      <vt:lpstr>Custom Design</vt:lpstr>
      <vt:lpstr>1_Custom Design</vt:lpstr>
      <vt:lpstr>2_Custom Design</vt:lpstr>
      <vt:lpstr>3_Custom Design</vt:lpstr>
      <vt:lpstr>Navigating Psychotic Symptoms: Exploring a Broad Medical and Psychiatric Differential and Treatment </vt:lpstr>
      <vt:lpstr>Disclosure Statement</vt:lpstr>
      <vt:lpstr>Objectives and Outline</vt:lpstr>
      <vt:lpstr>Who am I?</vt:lpstr>
      <vt:lpstr>PowerPoint Presentation</vt:lpstr>
      <vt:lpstr>Initial Scenario</vt:lpstr>
      <vt:lpstr>Defining Psychosis- QUIZ SLIDE</vt:lpstr>
      <vt:lpstr>PowerPoint Presentation</vt:lpstr>
      <vt:lpstr>Defining Psychosis</vt:lpstr>
      <vt:lpstr>Defining Psychosis</vt:lpstr>
      <vt:lpstr>Defining Psychosis</vt:lpstr>
      <vt:lpstr>PowerPoint Presentation</vt:lpstr>
      <vt:lpstr>Psychotic Illnesses</vt:lpstr>
      <vt:lpstr>Primary Psychotic Disorders</vt:lpstr>
      <vt:lpstr>Primary Psychotic Disorders</vt:lpstr>
      <vt:lpstr>Primary Psychotic Disorders</vt:lpstr>
      <vt:lpstr>Primary Psychotic Disorders</vt:lpstr>
      <vt:lpstr>Primary Psychotic Disorders</vt:lpstr>
      <vt:lpstr>Primary Psychotic Disorders</vt:lpstr>
      <vt:lpstr>PowerPoint Presentation</vt:lpstr>
      <vt:lpstr>Psychotic Illnesses</vt:lpstr>
      <vt:lpstr>Secondary Psychotic Disorders</vt:lpstr>
      <vt:lpstr>Secondary Psychotic Disorders</vt:lpstr>
      <vt:lpstr>Secondary Psychotic Disorders</vt:lpstr>
      <vt:lpstr>Secondary Psychotic Disorders</vt:lpstr>
      <vt:lpstr>PowerPoint Presentation</vt:lpstr>
      <vt:lpstr>Referral: Red Flags</vt:lpstr>
      <vt:lpstr>Referral: Don’t try to manage alone!</vt:lpstr>
      <vt:lpstr>Early Intervention</vt:lpstr>
      <vt:lpstr>Early Intervention</vt:lpstr>
      <vt:lpstr>Early Intervention</vt:lpstr>
      <vt:lpstr>PowerPoint Presentation</vt:lpstr>
      <vt:lpstr>Treatment</vt:lpstr>
      <vt:lpstr>Treatment</vt:lpstr>
      <vt:lpstr>Wrap Up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Diederichs, Anna</dc:creator>
  <cp:lastModifiedBy>Vaughn, Sam</cp:lastModifiedBy>
  <cp:revision>14</cp:revision>
  <dcterms:created xsi:type="dcterms:W3CDTF">2016-06-30T12:45:50Z</dcterms:created>
  <dcterms:modified xsi:type="dcterms:W3CDTF">2025-11-18T19:21:58Z</dcterms:modified>
</cp:coreProperties>
</file>