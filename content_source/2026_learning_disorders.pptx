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4"/>
    <p:sldMasterId id="2147483658" r:id="rId5"/>
    <p:sldMasterId id="2147483662" r:id="rId6"/>
    <p:sldMasterId id="2147483666" r:id="rId7"/>
  </p:sldMasterIdLst>
  <p:sldIdLst>
    <p:sldId id="260" r:id="rId8"/>
    <p:sldId id="264" r:id="rId9"/>
    <p:sldId id="266" r:id="rId10"/>
    <p:sldId id="262" r:id="rId11"/>
    <p:sldId id="268" r:id="rId12"/>
    <p:sldId id="267" r:id="rId13"/>
    <p:sldId id="271" r:id="rId14"/>
    <p:sldId id="272" r:id="rId15"/>
    <p:sldId id="269" r:id="rId16"/>
    <p:sldId id="270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6B4"/>
    <a:srgbClr val="E6FCFF"/>
    <a:srgbClr val="D1F9FF"/>
    <a:srgbClr val="E3E3E3"/>
    <a:srgbClr val="00B0CC"/>
    <a:srgbClr val="D3C0C9"/>
    <a:srgbClr val="CCDCC2"/>
    <a:srgbClr val="C5DDE6"/>
    <a:srgbClr val="E4BFCB"/>
    <a:srgbClr val="E2C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E3F26F-26D5-7E48-A587-EC049DDE053C}" v="54" dt="2026-04-15T21:23:45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94" autoAdjust="0"/>
    <p:restoredTop sz="94682"/>
  </p:normalViewPr>
  <p:slideViewPr>
    <p:cSldViewPr snapToGrid="0" snapToObjects="1">
      <p:cViewPr>
        <p:scale>
          <a:sx n="110" d="100"/>
          <a:sy n="110" d="100"/>
        </p:scale>
        <p:origin x="568" y="12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27892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5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9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1146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1146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8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288397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6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410200" cy="41240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1"/>
            <a:ext cx="5410200" cy="41240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297875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2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288397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56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095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3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133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2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959039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2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8946708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7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pPr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lnSpc>
                <a:spcPct val="7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2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EDB6EC-CF5C-FF48-163C-AED5DAE70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Sam Vaughn</a:t>
            </a:r>
          </a:p>
          <a:p>
            <a:r>
              <a:rPr lang="en-US" dirty="0"/>
              <a:t>April 16,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22BD50-2B93-DE64-6964-00720174B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Disorders, Intelligence,  and Psychiatric Symptoms</a:t>
            </a:r>
          </a:p>
        </p:txBody>
      </p:sp>
      <p:pic>
        <p:nvPicPr>
          <p:cNvPr id="2" name="Picture 1" descr="Vintage Anatomy Images - Human Brain - The Graphics Fairy">
            <a:extLst>
              <a:ext uri="{FF2B5EF4-FFF2-40B4-BE49-F238E27FC236}">
                <a16:creationId xmlns:a16="http://schemas.microsoft.com/office/drawing/2014/main" id="{984CB908-B0DE-4AF1-F891-5C3C6EDC1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855" b="98414" l="7769" r="9412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06" t="4917" r="5874" b="2259"/>
          <a:stretch>
            <a:fillRect/>
          </a:stretch>
        </p:blipFill>
        <p:spPr bwMode="auto">
          <a:xfrm>
            <a:off x="6573794" y="55003"/>
            <a:ext cx="5618206" cy="680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51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91AB-BE8B-26BF-BDA5-F80447B6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7E16-4E2B-B8EE-642C-4B74C833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Recognize when learning weakness may be driving psychiatric symptoms</a:t>
            </a:r>
          </a:p>
          <a:p>
            <a:r>
              <a:rPr lang="en-US" dirty="0"/>
              <a:t>Identify the common specific learning disorders and the basics of how they are diagnosed</a:t>
            </a:r>
          </a:p>
          <a:p>
            <a:r>
              <a:rPr lang="en-US" dirty="0"/>
              <a:t>Adjust formulation, risk assessment, and treatment planning when learning weakness is central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94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F73F2-71B4-9B81-AF37-5E20787E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95F32-2B56-6AEF-6448-8ABAE5E6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Dilemma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BF2DE-3E3B-BBB5-DCB4-6855C4F7F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1286" y="1486794"/>
            <a:ext cx="6046267" cy="523220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Behavior: irritability and suicidality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8E2169-3AC3-E94B-09C7-472909DE6EE9}"/>
              </a:ext>
            </a:extLst>
          </p:cNvPr>
          <p:cNvGrpSpPr/>
          <p:nvPr/>
        </p:nvGrpSpPr>
        <p:grpSpPr>
          <a:xfrm>
            <a:off x="1111169" y="2397228"/>
            <a:ext cx="3769901" cy="3133292"/>
            <a:chOff x="1111169" y="2397228"/>
            <a:chExt cx="3769901" cy="3133292"/>
          </a:xfrm>
        </p:grpSpPr>
        <p:pic>
          <p:nvPicPr>
            <p:cNvPr id="28" name="Graphic 27" descr="Question Mark with solid fill">
              <a:extLst>
                <a:ext uri="{FF2B5EF4-FFF2-40B4-BE49-F238E27FC236}">
                  <a16:creationId xmlns:a16="http://schemas.microsoft.com/office/drawing/2014/main" id="{FD8B9C74-FFB3-325E-EFAC-B88E1502C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171" y="2397228"/>
              <a:ext cx="3133292" cy="313329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3897B9-8954-FAEC-65A8-377FF0823A4C}"/>
                </a:ext>
              </a:extLst>
            </p:cNvPr>
            <p:cNvSpPr txBox="1"/>
            <p:nvPr/>
          </p:nvSpPr>
          <p:spPr>
            <a:xfrm>
              <a:off x="1111169" y="3608978"/>
              <a:ext cx="37699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Psychiatric problem-</a:t>
              </a:r>
            </a:p>
            <a:p>
              <a:r>
                <a:rPr lang="en-US" sz="2800" dirty="0"/>
                <a:t>MDD, GAD, ADHD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6C14DE0-F4B4-67C1-8387-5B020699D3DD}"/>
              </a:ext>
            </a:extLst>
          </p:cNvPr>
          <p:cNvGrpSpPr/>
          <p:nvPr/>
        </p:nvGrpSpPr>
        <p:grpSpPr>
          <a:xfrm>
            <a:off x="7526336" y="2397228"/>
            <a:ext cx="4084606" cy="3133292"/>
            <a:chOff x="7526336" y="2397228"/>
            <a:chExt cx="4084606" cy="3133292"/>
          </a:xfrm>
        </p:grpSpPr>
        <p:pic>
          <p:nvPicPr>
            <p:cNvPr id="31" name="Graphic 30" descr="Question Mark with solid fill">
              <a:extLst>
                <a:ext uri="{FF2B5EF4-FFF2-40B4-BE49-F238E27FC236}">
                  <a16:creationId xmlns:a16="http://schemas.microsoft.com/office/drawing/2014/main" id="{F4C848B7-3269-71B4-8EBC-882F26CD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47539" y="2397228"/>
              <a:ext cx="3133292" cy="313329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DA13BB-A6A7-8AA4-750F-49C569BAB392}"/>
                </a:ext>
              </a:extLst>
            </p:cNvPr>
            <p:cNvSpPr txBox="1"/>
            <p:nvPr/>
          </p:nvSpPr>
          <p:spPr>
            <a:xfrm>
              <a:off x="7526336" y="3608978"/>
              <a:ext cx="40846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Learning problems- </a:t>
              </a:r>
              <a:r>
                <a:rPr lang="en-US" sz="2800" dirty="0"/>
                <a:t>LD, cognitive weakness, attachment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567F6F8-0BE5-717C-B22F-3CDAAB84979B}"/>
              </a:ext>
            </a:extLst>
          </p:cNvPr>
          <p:cNvSpPr txBox="1"/>
          <p:nvPr/>
        </p:nvSpPr>
        <p:spPr>
          <a:xfrm>
            <a:off x="1360825" y="5722971"/>
            <a:ext cx="9470349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96B4"/>
                </a:solidFill>
              </a:rPr>
              <a:t>Treatment resistance or underlying cognitive/social factor?</a:t>
            </a:r>
          </a:p>
        </p:txBody>
      </p:sp>
    </p:spTree>
    <p:extLst>
      <p:ext uri="{BB962C8B-B14F-4D97-AF65-F5344CB8AC3E}">
        <p14:creationId xmlns:p14="http://schemas.microsoft.com/office/powerpoint/2010/main" val="287002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968F30-FBA1-2508-C735-D6CE5808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Psychiatric Symptoms and Cognitive Weakness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A7B496-1921-F980-0A2D-4C21AF080E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Common Symptoms</a:t>
            </a:r>
          </a:p>
          <a:p>
            <a:r>
              <a:rPr lang="en-US" dirty="0"/>
              <a:t>Irritability/outbursts</a:t>
            </a:r>
          </a:p>
          <a:p>
            <a:r>
              <a:rPr lang="en-US" dirty="0"/>
              <a:t>Inattention in class</a:t>
            </a:r>
          </a:p>
          <a:p>
            <a:r>
              <a:rPr lang="en-US" dirty="0"/>
              <a:t>School anxiety</a:t>
            </a:r>
          </a:p>
          <a:p>
            <a:r>
              <a:rPr lang="en-US" dirty="0"/>
              <a:t>Demoralization/depression</a:t>
            </a:r>
          </a:p>
          <a:p>
            <a:r>
              <a:rPr lang="en-US" dirty="0"/>
              <a:t>Self-harm/suicidality</a:t>
            </a:r>
          </a:p>
          <a:p>
            <a:r>
              <a:rPr lang="en-US" dirty="0"/>
              <a:t>Substance use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DDA41-F76D-4A24-F873-B3500EBFE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600200"/>
            <a:ext cx="5691851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Common Formal DSM-5 Diagnoses</a:t>
            </a:r>
          </a:p>
          <a:p>
            <a:r>
              <a:rPr lang="en-US" dirty="0"/>
              <a:t>ADHD</a:t>
            </a:r>
          </a:p>
          <a:p>
            <a:r>
              <a:rPr lang="en-US" dirty="0"/>
              <a:t>Mood Disorder/MDD/DMDD</a:t>
            </a:r>
          </a:p>
          <a:p>
            <a:r>
              <a:rPr lang="en-US" dirty="0"/>
              <a:t>PTSD/RAD</a:t>
            </a:r>
          </a:p>
          <a:p>
            <a:r>
              <a:rPr lang="en-US" dirty="0"/>
              <a:t>Anxiety Disorder</a:t>
            </a:r>
          </a:p>
          <a:p>
            <a:r>
              <a:rPr lang="en-US" dirty="0"/>
              <a:t>IED/Impulse Control disorder</a:t>
            </a:r>
          </a:p>
          <a:p>
            <a:r>
              <a:rPr lang="en-US" dirty="0"/>
              <a:t>Disruptive Behavior/Oppositional Defiant/Conduct</a:t>
            </a:r>
          </a:p>
          <a:p>
            <a:r>
              <a:rPr lang="en-US" dirty="0"/>
              <a:t>Personality traits/disorder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55443-EA9F-BE29-AF8E-C72CB6CCC719}"/>
              </a:ext>
            </a:extLst>
          </p:cNvPr>
          <p:cNvSpPr txBox="1"/>
          <p:nvPr/>
        </p:nvSpPr>
        <p:spPr>
          <a:xfrm>
            <a:off x="3872696" y="5831671"/>
            <a:ext cx="4294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96B4"/>
                </a:solidFill>
              </a:rPr>
              <a:t>Comorbid? Secondary? Misattributed?</a:t>
            </a:r>
          </a:p>
        </p:txBody>
      </p:sp>
    </p:spTree>
    <p:extLst>
      <p:ext uri="{BB962C8B-B14F-4D97-AF65-F5344CB8AC3E}">
        <p14:creationId xmlns:p14="http://schemas.microsoft.com/office/powerpoint/2010/main" val="18173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0344-2C1C-C8DA-EBA4-D6C95FE7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Diagnosing Specific Learning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D9DB6-F3F9-30A6-95E0-72E6B8116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Persistent difficulty in reading, written expression, and/or mathematics for at least 6 months despite intervention</a:t>
            </a:r>
          </a:p>
          <a:p>
            <a:r>
              <a:rPr lang="en-US" dirty="0"/>
              <a:t>Functional impact: well below age </a:t>
            </a:r>
            <a:r>
              <a:rPr lang="en-US" dirty="0" err="1"/>
              <a:t>expectioations</a:t>
            </a:r>
            <a:endParaRPr lang="en-US" dirty="0"/>
          </a:p>
          <a:p>
            <a:r>
              <a:rPr lang="en-US" dirty="0"/>
              <a:t>Developmental course: began during school years</a:t>
            </a:r>
          </a:p>
          <a:p>
            <a:r>
              <a:rPr lang="en-US" dirty="0"/>
              <a:t>Specific domains: reading, written expression, mathematics</a:t>
            </a:r>
          </a:p>
          <a:p>
            <a:r>
              <a:rPr lang="en-US" dirty="0"/>
              <a:t>Rating: Mild, Moderate, Severe</a:t>
            </a:r>
          </a:p>
        </p:txBody>
      </p:sp>
    </p:spTree>
    <p:extLst>
      <p:ext uri="{BB962C8B-B14F-4D97-AF65-F5344CB8AC3E}">
        <p14:creationId xmlns:p14="http://schemas.microsoft.com/office/powerpoint/2010/main" val="138062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4BFC04-04E6-4FEB-9608-4D177F9A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Prevalence of Learning Disorders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BFF951-8AD7-FD87-7C20-C20A6E9E6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5-15% of school-age children have a learning disability</a:t>
            </a:r>
          </a:p>
          <a:p>
            <a:r>
              <a:rPr lang="en-US" dirty="0"/>
              <a:t>80% of those with a LD have impairment in reading</a:t>
            </a:r>
          </a:p>
          <a:p>
            <a:r>
              <a:rPr lang="en-US" dirty="0"/>
              <a:t>20% of the population has dyslexia</a:t>
            </a:r>
          </a:p>
        </p:txBody>
      </p:sp>
    </p:spTree>
    <p:extLst>
      <p:ext uri="{BB962C8B-B14F-4D97-AF65-F5344CB8AC3E}">
        <p14:creationId xmlns:p14="http://schemas.microsoft.com/office/powerpoint/2010/main" val="2323019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648B-1C1D-6880-E199-01D5FDF6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WISC-V</a:t>
            </a:r>
          </a:p>
        </p:txBody>
      </p:sp>
      <p:pic>
        <p:nvPicPr>
          <p:cNvPr id="4" name="Picture 3" descr="Logo&#10;&#10;Description automatically generated with medium confidence">
            <a:extLst>
              <a:ext uri="{FF2B5EF4-FFF2-40B4-BE49-F238E27FC236}">
                <a16:creationId xmlns:a16="http://schemas.microsoft.com/office/drawing/2014/main" id="{7DB023D6-665C-B9F8-3012-F37339626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14057"/>
            <a:ext cx="10972800" cy="3648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981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1780-270E-5E84-F1A1-6142B594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WISC-V</a:t>
            </a: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3D7DE1AE-D347-3F83-1B67-4BFD20F44E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344623"/>
            <a:ext cx="10871200" cy="348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2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2C1B-A564-B1CA-8BD9-8DDACB3B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Cognitive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9C08F-3256-3B49-0F9E-87CC1DF64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impact all aspects of life: school home, work</a:t>
            </a:r>
          </a:p>
          <a:p>
            <a:r>
              <a:rPr lang="en-US" dirty="0"/>
              <a:t>Repeated failure → shame → avoidance/irritability → continued escalation of behaviors</a:t>
            </a:r>
          </a:p>
          <a:p>
            <a:r>
              <a:rPr lang="en-US" dirty="0"/>
              <a:t>Chronic mismatch → exhaustion and hopelessness</a:t>
            </a:r>
          </a:p>
          <a:p>
            <a:endParaRPr lang="en-US" dirty="0"/>
          </a:p>
          <a:p>
            <a:r>
              <a:rPr lang="en-US" dirty="0"/>
              <a:t>Now a minor trigger leads to a disproportionate crisis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002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592E3D-7399-EEAD-A0EF-82A8D290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A705DD-14BF-0496-0D49-DA1F27ED9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13 </a:t>
            </a:r>
            <a:r>
              <a:rPr lang="en-US" dirty="0" err="1"/>
              <a:t>yo</a:t>
            </a:r>
            <a:r>
              <a:rPr lang="en-US" dirty="0"/>
              <a:t> with falling grades, nightly homework battles, escalating school refusal, then suicidal statements after losing phone privileges.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42073B29-4F14-38A9-B00E-48B7E6482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354" y="3343005"/>
            <a:ext cx="3133292" cy="313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9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7B2F-79AB-F1F6-FA25-7F6B2F994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Emilio</a:t>
            </a: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87DB8CC-49C8-249F-B71B-7A679FCD6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348"/>
            <a:ext cx="12192000" cy="425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24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6775-EE0D-5B5E-48DE-9D948540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into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C0B5-A4DA-C183-A6DF-F1CD4DB1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about specific tasks: classroom/subjects/work</a:t>
            </a:r>
          </a:p>
          <a:p>
            <a:r>
              <a:rPr lang="en-US" dirty="0"/>
              <a:t>Review testing if able</a:t>
            </a:r>
          </a:p>
          <a:p>
            <a:r>
              <a:rPr lang="en-US" dirty="0"/>
              <a:t>Treat comorbid disorders as appropriate</a:t>
            </a:r>
          </a:p>
          <a:p>
            <a:r>
              <a:rPr lang="en-US" dirty="0"/>
              <a:t>Advocate for appropriate testing</a:t>
            </a:r>
            <a:r>
              <a:rPr lang="en-US"/>
              <a:t>/interventions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7755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CH_PpointTemplate_16x9_FlexibleFormat" id="{EC81079A-9800-4087-8DF2-68860A21971A}" vid="{47D5444C-32B1-444F-B93C-889496597DCA}"/>
    </a:ext>
  </a:extLst>
</a:theme>
</file>

<file path=ppt/theme/theme2.xml><?xml version="1.0" encoding="utf-8"?>
<a:theme xmlns:a="http://schemas.openxmlformats.org/drawingml/2006/main" name="1_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CH_PpointTemplate_16x9_FlexibleFormat" id="{EC81079A-9800-4087-8DF2-68860A21971A}" vid="{3AD169A8-4DF6-4BC3-853B-9A4A86CFC2FA}"/>
    </a:ext>
  </a:extLst>
</a:theme>
</file>

<file path=ppt/theme/theme3.xml><?xml version="1.0" encoding="utf-8"?>
<a:theme xmlns:a="http://schemas.openxmlformats.org/drawingml/2006/main" name="2_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CH_PpointTemplate_16x9_FlexibleFormat" id="{EC81079A-9800-4087-8DF2-68860A21971A}" vid="{B5029CB8-2FBF-4911-A39F-FEE35876C809}"/>
    </a:ext>
  </a:extLst>
</a:theme>
</file>

<file path=ppt/theme/theme4.xml><?xml version="1.0" encoding="utf-8"?>
<a:theme xmlns:a="http://schemas.openxmlformats.org/drawingml/2006/main" name="3_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CH_PpointTemplate_16x9_FlexibleFormat" id="{EC81079A-9800-4087-8DF2-68860A21971A}" vid="{366CAC95-A5FC-49ED-802A-E73BD709BFB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991d55-6bd5-4c14-95bb-46ba7dab3482">
      <Terms xmlns="http://schemas.microsoft.com/office/infopath/2007/PartnerControls"/>
    </lcf76f155ced4ddcb4097134ff3c332f>
    <TaxCatchAll xmlns="3856c2bf-a768-4d35-bbcf-75ca53b16fc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0B8E10D1722945BE5D032DE988241D" ma:contentTypeVersion="11" ma:contentTypeDescription="Create a new document." ma:contentTypeScope="" ma:versionID="c67d5eb03f025eeef3851cdaa620b7cb">
  <xsd:schema xmlns:xsd="http://www.w3.org/2001/XMLSchema" xmlns:xs="http://www.w3.org/2001/XMLSchema" xmlns:p="http://schemas.microsoft.com/office/2006/metadata/properties" xmlns:ns2="d1991d55-6bd5-4c14-95bb-46ba7dab3482" xmlns:ns3="3856c2bf-a768-4d35-bbcf-75ca53b16fc7" targetNamespace="http://schemas.microsoft.com/office/2006/metadata/properties" ma:root="true" ma:fieldsID="3e1b3bf1777d7fa451493ea5db1b72d7" ns2:_="" ns3:_="">
    <xsd:import namespace="d1991d55-6bd5-4c14-95bb-46ba7dab3482"/>
    <xsd:import namespace="3856c2bf-a768-4d35-bbcf-75ca53b16f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91d55-6bd5-4c14-95bb-46ba7dab34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abcfe3-6ca4-44ec-8978-38926539f7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6c2bf-a768-4d35-bbcf-75ca53b16fc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e51b4cb-2874-4fe3-82ca-7b2ee1bd91e7}" ma:internalName="TaxCatchAll" ma:showField="CatchAllData" ma:web="3856c2bf-a768-4d35-bbcf-75ca53b16f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F1EF9B-D05B-4455-BB0C-64E31FB78FB3}">
  <ds:schemaRefs>
    <ds:schemaRef ds:uri="http://schemas.microsoft.com/office/2006/documentManagement/types"/>
    <ds:schemaRef ds:uri="3856c2bf-a768-4d35-bbcf-75ca53b16fc7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  <ds:schemaRef ds:uri="d1991d55-6bd5-4c14-95bb-46ba7dab3482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2EDED0C-7FA8-46A9-BA9D-4657B65BDA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23E4A1-BDE8-42AC-8631-E7C9ECC8D7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991d55-6bd5-4c14-95bb-46ba7dab3482"/>
    <ds:schemaRef ds:uri="3856c2bf-a768-4d35-bbcf-75ca53b16f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80254d4-278b-4aa1-aca8-c2600f79c533}" enabled="0" method="" siteId="{680254d4-278b-4aa1-aca8-c2600f79c53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CCH_PpointTemplate_16x9_FlexibleFormat</Template>
  <TotalTime>1959</TotalTime>
  <Words>328</Words>
  <Application>Microsoft Macintosh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Custom Design</vt:lpstr>
      <vt:lpstr>1_Custom Design</vt:lpstr>
      <vt:lpstr>2_Custom Design</vt:lpstr>
      <vt:lpstr>3_Custom Design</vt:lpstr>
      <vt:lpstr>Learning Disorders, Intelligence,  and Psychiatric Symptoms</vt:lpstr>
      <vt:lpstr>Goals and Objectives</vt:lpstr>
      <vt:lpstr>Diagnostic Dilemma</vt:lpstr>
      <vt:lpstr>Psychiatric Symptoms and Cognitive Weakness</vt:lpstr>
      <vt:lpstr>Diagnosing Specific Learning Disorder</vt:lpstr>
      <vt:lpstr>Prevalence of Learning Disorders</vt:lpstr>
      <vt:lpstr>WISC-V</vt:lpstr>
      <vt:lpstr>WISC-V</vt:lpstr>
      <vt:lpstr>Impact of Cognitive Weaknesses</vt:lpstr>
      <vt:lpstr>Examples</vt:lpstr>
      <vt:lpstr>Emilio</vt:lpstr>
      <vt:lpstr>Putting it into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Johanni, Cecelia (She/Her/Hers)</dc:creator>
  <cp:lastModifiedBy>Vaughn, Sam</cp:lastModifiedBy>
  <cp:revision>2</cp:revision>
  <dcterms:created xsi:type="dcterms:W3CDTF">2026-02-18T21:37:16Z</dcterms:created>
  <dcterms:modified xsi:type="dcterms:W3CDTF">2026-04-15T21:26:40Z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0x010100250B8E10D1722945BE5D032DE988241D</vt:lpwstr>
  </property>
  <property fmtid="{D5CDD505-2E9C-101B-9397-08002B2CF9AE}" pid="3" name="Order">
    <vt:r8>7455800</vt:r8>
  </property>
  <property fmtid="{D5CDD505-2E9C-101B-9397-08002B2CF9AE}" pid="4" name="MediaServiceImageTags">
    <vt:lpwstr/>
  </property>
</Properties>
</file>